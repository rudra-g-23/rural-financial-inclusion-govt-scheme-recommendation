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Bebas Neue Bold" charset="1" panose="020B0606020202050201"/>
      <p:regular r:id="rId29"/>
    </p:embeddedFont>
    <p:embeddedFont>
      <p:font typeface="PT Sans" charset="1" panose="020B0503020203020204"/>
      <p:regular r:id="rId30"/>
    </p:embeddedFont>
    <p:embeddedFont>
      <p:font typeface="PT Sans Bold" charset="1" panose="020B0703020203020204"/>
      <p:regular r:id="rId31"/>
    </p:embeddedFont>
    <p:embeddedFont>
      <p:font typeface="Karnchang SemiCondensed Bold" charset="1" panose="000000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https://github.com/Rudra-G-23/Play-with-Data/blob/main/Data_Accessing_%26_Cleaning/Handling%20Missing%20Values%20Chart.md" TargetMode="External" Type="http://schemas.openxmlformats.org/officeDocument/2006/relationships/hyperlink"/></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embeddings/oleObject1.bin" Type="http://schemas.openxmlformats.org/officeDocument/2006/relationships/oleObject"/><Relationship Id="rId6" Target="https://github.com/Rudra-G-23/Play-with-Data/blob/main/Data_Accessing_%26_Cleaning/Handling%20Missing%20Values%20Chart.md"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565436" y="9239250"/>
            <a:ext cx="20019890" cy="0"/>
          </a:xfrm>
          <a:prstGeom prst="line">
            <a:avLst/>
          </a:prstGeom>
          <a:ln cap="flat" w="38100">
            <a:solidFill>
              <a:srgbClr val="000000"/>
            </a:solidFill>
            <a:prstDash val="solid"/>
            <a:headEnd type="diamond" len="lg" w="lg"/>
            <a:tailEnd type="none" len="sm" w="sm"/>
          </a:ln>
        </p:spPr>
      </p:sp>
      <p:sp>
        <p:nvSpPr>
          <p:cNvPr name="Freeform 3" id="3"/>
          <p:cNvSpPr/>
          <p:nvPr/>
        </p:nvSpPr>
        <p:spPr>
          <a:xfrm flipH="false" flipV="false" rot="0">
            <a:off x="12119051" y="6565239"/>
            <a:ext cx="4815191" cy="4114800"/>
          </a:xfrm>
          <a:custGeom>
            <a:avLst/>
            <a:gdLst/>
            <a:ahLst/>
            <a:cxnLst/>
            <a:rect r="r" b="b" t="t" l="l"/>
            <a:pathLst>
              <a:path h="4114800" w="4815191">
                <a:moveTo>
                  <a:pt x="0" y="0"/>
                </a:moveTo>
                <a:lnTo>
                  <a:pt x="4815192" y="0"/>
                </a:lnTo>
                <a:lnTo>
                  <a:pt x="48151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V="true">
            <a:off x="624662" y="-18432980"/>
            <a:ext cx="0" cy="20019890"/>
          </a:xfrm>
          <a:prstGeom prst="line">
            <a:avLst/>
          </a:prstGeom>
          <a:ln cap="flat" w="38100">
            <a:solidFill>
              <a:srgbClr val="000000"/>
            </a:solidFill>
            <a:prstDash val="solid"/>
            <a:headEnd type="diamond" len="lg" w="lg"/>
            <a:tailEnd type="none" len="sm" w="sm"/>
          </a:ln>
        </p:spPr>
      </p:sp>
      <p:sp>
        <p:nvSpPr>
          <p:cNvPr name="TextBox 5" id="5"/>
          <p:cNvSpPr txBox="true"/>
          <p:nvPr/>
        </p:nvSpPr>
        <p:spPr>
          <a:xfrm rot="0">
            <a:off x="1869398" y="1238250"/>
            <a:ext cx="11549217" cy="3239294"/>
          </a:xfrm>
          <a:prstGeom prst="rect">
            <a:avLst/>
          </a:prstGeom>
        </p:spPr>
        <p:txBody>
          <a:bodyPr anchor="t" rtlCol="false" tIns="0" lIns="0" bIns="0" rIns="0">
            <a:spAutoFit/>
          </a:bodyPr>
          <a:lstStyle/>
          <a:p>
            <a:pPr algn="l">
              <a:lnSpc>
                <a:spcPts val="12312"/>
              </a:lnSpc>
            </a:pPr>
            <a:r>
              <a:rPr lang="en-US" sz="12190" b="true">
                <a:solidFill>
                  <a:srgbClr val="000000"/>
                </a:solidFill>
                <a:latin typeface="Bebas Neue Bold"/>
                <a:ea typeface="Bebas Neue Bold"/>
                <a:cs typeface="Bebas Neue Bold"/>
                <a:sym typeface="Bebas Neue Bold"/>
              </a:rPr>
              <a:t>NULL Value</a:t>
            </a:r>
          </a:p>
          <a:p>
            <a:pPr algn="l">
              <a:lnSpc>
                <a:spcPts val="12312"/>
              </a:lnSpc>
            </a:pPr>
            <a:r>
              <a:rPr lang="en-US" sz="12190" b="true">
                <a:solidFill>
                  <a:srgbClr val="000000"/>
                </a:solidFill>
                <a:latin typeface="Bebas Neue Bold"/>
                <a:ea typeface="Bebas Neue Bold"/>
                <a:cs typeface="Bebas Neue Bold"/>
                <a:sym typeface="Bebas Neue Bold"/>
              </a:rPr>
              <a:t>Matrix Report</a:t>
            </a:r>
          </a:p>
        </p:txBody>
      </p:sp>
      <p:sp>
        <p:nvSpPr>
          <p:cNvPr name="TextBox 6" id="6"/>
          <p:cNvSpPr txBox="true"/>
          <p:nvPr/>
        </p:nvSpPr>
        <p:spPr>
          <a:xfrm rot="0">
            <a:off x="1869398" y="4382294"/>
            <a:ext cx="8653460" cy="887096"/>
          </a:xfrm>
          <a:prstGeom prst="rect">
            <a:avLst/>
          </a:prstGeom>
        </p:spPr>
        <p:txBody>
          <a:bodyPr anchor="t" rtlCol="false" tIns="0" lIns="0" bIns="0" rIns="0">
            <a:spAutoFit/>
          </a:bodyPr>
          <a:lstStyle/>
          <a:p>
            <a:pPr algn="l">
              <a:lnSpc>
                <a:spcPts val="7279"/>
              </a:lnSpc>
            </a:pPr>
            <a:r>
              <a:rPr lang="en-US" sz="5199">
                <a:solidFill>
                  <a:srgbClr val="000000"/>
                </a:solidFill>
                <a:latin typeface="PT Sans"/>
                <a:ea typeface="PT Sans"/>
                <a:cs typeface="PT Sans"/>
                <a:sym typeface="PT Sans"/>
              </a:rPr>
              <a:t>ON HCES 2023-24</a:t>
            </a:r>
          </a:p>
        </p:txBody>
      </p:sp>
      <p:sp>
        <p:nvSpPr>
          <p:cNvPr name="TextBox 7" id="7"/>
          <p:cNvSpPr txBox="true"/>
          <p:nvPr/>
        </p:nvSpPr>
        <p:spPr>
          <a:xfrm rot="0">
            <a:off x="1869398" y="7204419"/>
            <a:ext cx="5215564" cy="1749425"/>
          </a:xfrm>
          <a:prstGeom prst="rect">
            <a:avLst/>
          </a:prstGeom>
        </p:spPr>
        <p:txBody>
          <a:bodyPr anchor="t" rtlCol="false" tIns="0" lIns="0" bIns="0" rIns="0">
            <a:spAutoFit/>
          </a:bodyPr>
          <a:lstStyle/>
          <a:p>
            <a:pPr algn="just">
              <a:lnSpc>
                <a:spcPts val="2800"/>
              </a:lnSpc>
            </a:pPr>
            <a:r>
              <a:rPr lang="en-US" sz="2000" b="true">
                <a:solidFill>
                  <a:srgbClr val="222222"/>
                </a:solidFill>
                <a:latin typeface="PT Sans Bold"/>
                <a:ea typeface="PT Sans Bold"/>
                <a:cs typeface="PT Sans Bold"/>
                <a:sym typeface="PT Sans Bold"/>
              </a:rPr>
              <a:t>Author</a:t>
            </a:r>
            <a:r>
              <a:rPr lang="en-US" sz="2000">
                <a:solidFill>
                  <a:srgbClr val="222222"/>
                </a:solidFill>
                <a:latin typeface="PT Sans"/>
                <a:ea typeface="PT Sans"/>
                <a:cs typeface="PT Sans"/>
                <a:sym typeface="PT Sans"/>
              </a:rPr>
              <a:t>: Rudra Prasad Bhuyan</a:t>
            </a:r>
          </a:p>
          <a:p>
            <a:pPr algn="just">
              <a:lnSpc>
                <a:spcPts val="2800"/>
              </a:lnSpc>
            </a:pPr>
            <a:r>
              <a:rPr lang="en-US" sz="2000" b="true">
                <a:solidFill>
                  <a:srgbClr val="222222"/>
                </a:solidFill>
                <a:latin typeface="PT Sans Bold"/>
                <a:ea typeface="PT Sans Bold"/>
                <a:cs typeface="PT Sans Bold"/>
                <a:sym typeface="PT Sans Bold"/>
              </a:rPr>
              <a:t>Position:</a:t>
            </a:r>
            <a:r>
              <a:rPr lang="en-US" sz="2000">
                <a:solidFill>
                  <a:srgbClr val="222222"/>
                </a:solidFill>
                <a:latin typeface="PT Sans"/>
                <a:ea typeface="PT Sans"/>
                <a:cs typeface="PT Sans"/>
                <a:sym typeface="PT Sans"/>
              </a:rPr>
              <a:t> Data Scientist Intern </a:t>
            </a:r>
          </a:p>
          <a:p>
            <a:pPr algn="just">
              <a:lnSpc>
                <a:spcPts val="2800"/>
              </a:lnSpc>
            </a:pPr>
          </a:p>
          <a:p>
            <a:pPr algn="just">
              <a:lnSpc>
                <a:spcPts val="2800"/>
              </a:lnSpc>
            </a:pPr>
            <a:r>
              <a:rPr lang="en-US" sz="2000" b="true">
                <a:solidFill>
                  <a:srgbClr val="222222"/>
                </a:solidFill>
                <a:latin typeface="PT Sans Bold"/>
                <a:ea typeface="PT Sans Bold"/>
                <a:cs typeface="PT Sans Bold"/>
                <a:sym typeface="PT Sans Bold"/>
              </a:rPr>
              <a:t>Organisation:</a:t>
            </a:r>
            <a:r>
              <a:rPr lang="en-US" sz="2000">
                <a:solidFill>
                  <a:srgbClr val="222222"/>
                </a:solidFill>
                <a:latin typeface="PT Sans"/>
                <a:ea typeface="PT Sans"/>
                <a:cs typeface="PT Sans"/>
                <a:sym typeface="PT Sans"/>
              </a:rPr>
              <a:t> SBC Labs</a:t>
            </a:r>
          </a:p>
          <a:p>
            <a:pPr algn="just">
              <a:lnSpc>
                <a:spcPts val="2800"/>
              </a:lnSpc>
            </a:pPr>
            <a:r>
              <a:rPr lang="en-US" sz="2000" b="true">
                <a:solidFill>
                  <a:srgbClr val="222222"/>
                </a:solidFill>
                <a:latin typeface="PT Sans Bold"/>
                <a:ea typeface="PT Sans Bold"/>
                <a:cs typeface="PT Sans Bold"/>
                <a:sym typeface="PT Sans Bold"/>
              </a:rPr>
              <a:t>Guidance</a:t>
            </a:r>
            <a:r>
              <a:rPr lang="en-US" sz="2000">
                <a:solidFill>
                  <a:srgbClr val="222222"/>
                </a:solidFill>
                <a:latin typeface="PT Sans"/>
                <a:ea typeface="PT Sans"/>
                <a:cs typeface="PT Sans"/>
                <a:sym typeface="PT Sans"/>
              </a:rPr>
              <a:t>: Anushka Ashok, Alok Gangaramany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565436" y="9239250"/>
            <a:ext cx="20019890" cy="0"/>
          </a:xfrm>
          <a:prstGeom prst="line">
            <a:avLst/>
          </a:prstGeom>
          <a:ln cap="flat" w="38100">
            <a:solidFill>
              <a:srgbClr val="000000"/>
            </a:solidFill>
            <a:prstDash val="solid"/>
            <a:headEnd type="diamond" len="lg" w="lg"/>
            <a:tailEnd type="none" len="sm" w="sm"/>
          </a:ln>
        </p:spPr>
      </p:sp>
      <p:sp>
        <p:nvSpPr>
          <p:cNvPr name="AutoShape 3" id="3"/>
          <p:cNvSpPr/>
          <p:nvPr/>
        </p:nvSpPr>
        <p:spPr>
          <a:xfrm flipV="true">
            <a:off x="624662" y="-18432980"/>
            <a:ext cx="0" cy="20019890"/>
          </a:xfrm>
          <a:prstGeom prst="line">
            <a:avLst/>
          </a:prstGeom>
          <a:ln cap="flat" w="38100">
            <a:solidFill>
              <a:srgbClr val="000000"/>
            </a:solidFill>
            <a:prstDash val="solid"/>
            <a:headEnd type="diamond" len="lg" w="lg"/>
            <a:tailEnd type="none" len="sm" w="sm"/>
          </a:ln>
        </p:spPr>
      </p:sp>
      <p:sp>
        <p:nvSpPr>
          <p:cNvPr name="TextBox 4" id="4"/>
          <p:cNvSpPr txBox="true"/>
          <p:nvPr/>
        </p:nvSpPr>
        <p:spPr>
          <a:xfrm rot="0">
            <a:off x="1931196" y="2803861"/>
            <a:ext cx="4438617" cy="5278893"/>
          </a:xfrm>
          <a:prstGeom prst="rect">
            <a:avLst/>
          </a:prstGeom>
        </p:spPr>
        <p:txBody>
          <a:bodyPr anchor="t" rtlCol="false" tIns="0" lIns="0" bIns="0" rIns="0">
            <a:spAutoFit/>
          </a:bodyPr>
          <a:lstStyle/>
          <a:p>
            <a:pPr algn="just" marL="647065" indent="-323533" lvl="1">
              <a:lnSpc>
                <a:spcPts val="4705"/>
              </a:lnSpc>
              <a:buFont typeface="Arial"/>
              <a:buChar char="•"/>
            </a:pPr>
            <a:r>
              <a:rPr lang="en-US" sz="2997">
                <a:solidFill>
                  <a:srgbClr val="000000"/>
                </a:solidFill>
                <a:latin typeface="PT Sans"/>
                <a:ea typeface="PT Sans"/>
                <a:cs typeface="PT Sans"/>
                <a:sym typeface="PT Sans"/>
              </a:rPr>
              <a:t>Su</a:t>
            </a:r>
            <a:r>
              <a:rPr lang="en-US" sz="2997">
                <a:solidFill>
                  <a:srgbClr val="000000"/>
                </a:solidFill>
                <a:latin typeface="PT Sans"/>
                <a:ea typeface="PT Sans"/>
                <a:cs typeface="PT Sans"/>
                <a:sym typeface="PT Sans"/>
              </a:rPr>
              <a:t>rvey/Household</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Person</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Socio-Economic</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Ration/Online</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Food Consumption</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Consumption Value</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Benefits/Welfare</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Non-Food Items</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Non-Durabels</a:t>
            </a:r>
          </a:p>
        </p:txBody>
      </p:sp>
      <p:sp>
        <p:nvSpPr>
          <p:cNvPr name="Freeform 5" id="5"/>
          <p:cNvSpPr/>
          <p:nvPr/>
        </p:nvSpPr>
        <p:spPr>
          <a:xfrm flipH="false" flipV="false" rot="0">
            <a:off x="13076047" y="5890016"/>
            <a:ext cx="4183253" cy="4114800"/>
          </a:xfrm>
          <a:custGeom>
            <a:avLst/>
            <a:gdLst/>
            <a:ahLst/>
            <a:cxnLst/>
            <a:rect r="r" b="b" t="t" l="l"/>
            <a:pathLst>
              <a:path h="4114800" w="4183253">
                <a:moveTo>
                  <a:pt x="0" y="0"/>
                </a:moveTo>
                <a:lnTo>
                  <a:pt x="4183253" y="0"/>
                </a:lnTo>
                <a:lnTo>
                  <a:pt x="41832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565436" y="850989"/>
            <a:ext cx="8177067" cy="1440893"/>
          </a:xfrm>
          <a:prstGeom prst="rect">
            <a:avLst/>
          </a:prstGeom>
        </p:spPr>
        <p:txBody>
          <a:bodyPr anchor="t" rtlCol="false" tIns="0" lIns="0" bIns="0" rIns="0">
            <a:spAutoFit/>
          </a:bodyPr>
          <a:lstStyle/>
          <a:p>
            <a:pPr algn="l" marL="0" indent="0" lvl="0">
              <a:lnSpc>
                <a:spcPts val="8083"/>
              </a:lnSpc>
              <a:spcBef>
                <a:spcPct val="0"/>
              </a:spcBef>
            </a:pPr>
            <a:r>
              <a:rPr lang="en-US" b="true" sz="8003" strike="noStrike" u="none">
                <a:solidFill>
                  <a:srgbClr val="000000"/>
                </a:solidFill>
                <a:latin typeface="Karnchang SemiCondensed Bold"/>
                <a:ea typeface="Karnchang SemiCondensed Bold"/>
                <a:cs typeface="Karnchang SemiCondensed Bold"/>
                <a:sym typeface="Karnchang SemiCondensed Bold"/>
              </a:rPr>
              <a:t>Table of Contents</a:t>
            </a:r>
          </a:p>
        </p:txBody>
      </p:sp>
      <p:sp>
        <p:nvSpPr>
          <p:cNvPr name="TextBox 7" id="7"/>
          <p:cNvSpPr txBox="true"/>
          <p:nvPr/>
        </p:nvSpPr>
        <p:spPr>
          <a:xfrm rot="0">
            <a:off x="7503621" y="2803861"/>
            <a:ext cx="4438617" cy="3507243"/>
          </a:xfrm>
          <a:prstGeom prst="rect">
            <a:avLst/>
          </a:prstGeom>
        </p:spPr>
        <p:txBody>
          <a:bodyPr anchor="t" rtlCol="false" tIns="0" lIns="0" bIns="0" rIns="0">
            <a:spAutoFit/>
          </a:bodyPr>
          <a:lstStyle/>
          <a:p>
            <a:pPr algn="just" marL="647065" indent="-323533" lvl="1">
              <a:lnSpc>
                <a:spcPts val="4705"/>
              </a:lnSpc>
              <a:buFont typeface="Arial"/>
              <a:buChar char="•"/>
            </a:pPr>
            <a:r>
              <a:rPr lang="en-US" sz="2997">
                <a:solidFill>
                  <a:srgbClr val="000000"/>
                </a:solidFill>
                <a:latin typeface="PT Sans"/>
                <a:ea typeface="PT Sans"/>
                <a:cs typeface="PT Sans"/>
                <a:sym typeface="PT Sans"/>
              </a:rPr>
              <a:t>Se</a:t>
            </a:r>
            <a:r>
              <a:rPr lang="en-US" sz="2997">
                <a:solidFill>
                  <a:srgbClr val="000000"/>
                </a:solidFill>
                <a:latin typeface="PT Sans"/>
                <a:ea typeface="PT Sans"/>
                <a:cs typeface="PT Sans"/>
                <a:sym typeface="PT Sans"/>
              </a:rPr>
              <a:t>rvices/Utillities</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Assets/Possessions</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Clothing/Footwear</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Durable Goods</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Total Expenditure</a:t>
            </a:r>
          </a:p>
          <a:p>
            <a:pPr algn="just" marL="647065" indent="-323533" lvl="1">
              <a:lnSpc>
                <a:spcPts val="4705"/>
              </a:lnSpc>
              <a:buFont typeface="Arial"/>
              <a:buChar char="•"/>
            </a:pPr>
            <a:r>
              <a:rPr lang="en-US" sz="2997">
                <a:solidFill>
                  <a:srgbClr val="000000"/>
                </a:solidFill>
                <a:latin typeface="PT Sans"/>
                <a:ea typeface="PT Sans"/>
                <a:cs typeface="PT Sans"/>
                <a:sym typeface="PT Sans"/>
              </a:rPr>
              <a:t>Summary/ Metadata</a:t>
            </a:r>
          </a:p>
        </p:txBody>
      </p:sp>
      <p:sp>
        <p:nvSpPr>
          <p:cNvPr name="TextBox 8" id="8"/>
          <p:cNvSpPr txBox="true"/>
          <p:nvPr/>
        </p:nvSpPr>
        <p:spPr>
          <a:xfrm rot="0">
            <a:off x="7515320" y="6536577"/>
            <a:ext cx="4454366"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PT Sans Bold"/>
                <a:ea typeface="PT Sans Bold"/>
                <a:cs typeface="PT Sans Bold"/>
                <a:sym typeface="PT Sans Bold"/>
              </a:rPr>
              <a:t>Filling Meth</a:t>
            </a:r>
            <a:r>
              <a:rPr lang="en-US" b="true" sz="3000">
                <a:solidFill>
                  <a:srgbClr val="000000"/>
                </a:solidFill>
                <a:latin typeface="PT Sans Bold"/>
                <a:ea typeface="PT Sans Bold"/>
                <a:cs typeface="PT Sans Bold"/>
                <a:sym typeface="PT Sans Bold"/>
              </a:rPr>
              <a:t>od Suggestions</a:t>
            </a:r>
          </a:p>
        </p:txBody>
      </p:sp>
      <p:sp>
        <p:nvSpPr>
          <p:cNvPr name="TextBox 9" id="9"/>
          <p:cNvSpPr txBox="true"/>
          <p:nvPr/>
        </p:nvSpPr>
        <p:spPr>
          <a:xfrm rot="0">
            <a:off x="1792700" y="2234733"/>
            <a:ext cx="3098006"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PT Sans Bold"/>
                <a:ea typeface="PT Sans Bold"/>
                <a:cs typeface="PT Sans Bold"/>
                <a:sym typeface="PT Sans Bold"/>
              </a:rPr>
              <a:t>Null Value Analysis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4EB17"/>
        </a:solidFill>
      </p:bgPr>
    </p:bg>
    <p:spTree>
      <p:nvGrpSpPr>
        <p:cNvPr id="1" name=""/>
        <p:cNvGrpSpPr/>
        <p:nvPr/>
      </p:nvGrpSpPr>
      <p:grpSpPr>
        <a:xfrm>
          <a:off x="0" y="0"/>
          <a:ext cx="0" cy="0"/>
          <a:chOff x="0" y="0"/>
          <a:chExt cx="0" cy="0"/>
        </a:xfrm>
      </p:grpSpPr>
      <p:sp>
        <p:nvSpPr>
          <p:cNvPr name="AutoShape 2" id="2"/>
          <p:cNvSpPr/>
          <p:nvPr/>
        </p:nvSpPr>
        <p:spPr>
          <a:xfrm>
            <a:off x="1565436" y="9239250"/>
            <a:ext cx="20019890" cy="0"/>
          </a:xfrm>
          <a:prstGeom prst="line">
            <a:avLst/>
          </a:prstGeom>
          <a:ln cap="flat" w="38100">
            <a:solidFill>
              <a:srgbClr val="000000"/>
            </a:solidFill>
            <a:prstDash val="solid"/>
            <a:headEnd type="diamond" len="lg" w="lg"/>
            <a:tailEnd type="none" len="sm" w="sm"/>
          </a:ln>
        </p:spPr>
      </p:sp>
      <p:sp>
        <p:nvSpPr>
          <p:cNvPr name="AutoShape 3" id="3"/>
          <p:cNvSpPr/>
          <p:nvPr/>
        </p:nvSpPr>
        <p:spPr>
          <a:xfrm flipV="true">
            <a:off x="624662" y="-18432980"/>
            <a:ext cx="0" cy="20019890"/>
          </a:xfrm>
          <a:prstGeom prst="line">
            <a:avLst/>
          </a:prstGeom>
          <a:ln cap="flat" w="38100">
            <a:solidFill>
              <a:srgbClr val="000000"/>
            </a:solidFill>
            <a:prstDash val="solid"/>
            <a:headEnd type="diamond" len="lg" w="lg"/>
            <a:tailEnd type="none" len="sm" w="sm"/>
          </a:ln>
        </p:spPr>
      </p:sp>
      <p:sp>
        <p:nvSpPr>
          <p:cNvPr name="TextBox 4" id="4"/>
          <p:cNvSpPr txBox="true"/>
          <p:nvPr/>
        </p:nvSpPr>
        <p:spPr>
          <a:xfrm rot="0">
            <a:off x="1565436" y="2800672"/>
            <a:ext cx="11891487" cy="5434330"/>
          </a:xfrm>
          <a:prstGeom prst="rect">
            <a:avLst/>
          </a:prstGeom>
        </p:spPr>
        <p:txBody>
          <a:bodyPr anchor="t" rtlCol="false" tIns="0" lIns="0" bIns="0" rIns="0">
            <a:spAutoFit/>
          </a:bodyPr>
          <a:lstStyle/>
          <a:p>
            <a:pPr algn="just" marL="604519" indent="-302260" lvl="1">
              <a:lnSpc>
                <a:spcPts val="3919"/>
              </a:lnSpc>
              <a:buFont typeface="Arial"/>
              <a:buChar char="•"/>
            </a:pPr>
            <a:r>
              <a:rPr lang="en-US" sz="2799">
                <a:solidFill>
                  <a:srgbClr val="000000"/>
                </a:solidFill>
                <a:latin typeface="PT Sans"/>
                <a:ea typeface="PT Sans"/>
                <a:cs typeface="PT Sans"/>
                <a:sym typeface="PT Sans"/>
              </a:rPr>
              <a:t>After encountering a large number of null values in the dataset, we decided that since this dataset is very important, we cannot compromise on data quality. Because most of the features (or columns) are checkbox-type, we can fill the missing values with null to maintain consistency.</a:t>
            </a:r>
          </a:p>
          <a:p>
            <a:pPr algn="just">
              <a:lnSpc>
                <a:spcPts val="3919"/>
              </a:lnSpc>
            </a:pPr>
          </a:p>
          <a:p>
            <a:pPr algn="just" marL="604519" indent="-302260" lvl="1">
              <a:lnSpc>
                <a:spcPts val="3919"/>
              </a:lnSpc>
              <a:buFont typeface="Arial"/>
              <a:buChar char="•"/>
            </a:pPr>
            <a:r>
              <a:rPr lang="en-US" sz="2799">
                <a:solidFill>
                  <a:srgbClr val="000000"/>
                </a:solidFill>
                <a:latin typeface="PT Sans"/>
                <a:ea typeface="PT Sans"/>
                <a:cs typeface="PT Sans"/>
                <a:sym typeface="PT Sans"/>
              </a:rPr>
              <a:t>We can then perform feature engineering on the remaining features to achieve the desired output.</a:t>
            </a:r>
          </a:p>
          <a:p>
            <a:pPr algn="just">
              <a:lnSpc>
                <a:spcPts val="3919"/>
              </a:lnSpc>
            </a:pPr>
          </a:p>
          <a:p>
            <a:pPr algn="just" marL="604519" indent="-302260" lvl="1">
              <a:lnSpc>
                <a:spcPts val="3919"/>
              </a:lnSpc>
              <a:buFont typeface="Arial"/>
              <a:buChar char="•"/>
            </a:pPr>
            <a:r>
              <a:rPr lang="en-US" sz="2799">
                <a:solidFill>
                  <a:srgbClr val="000000"/>
                </a:solidFill>
                <a:latin typeface="PT Sans"/>
                <a:ea typeface="PT Sans"/>
                <a:cs typeface="PT Sans"/>
                <a:sym typeface="PT Sans"/>
              </a:rPr>
              <a:t>In this report, I will present the missing values, the level names, and the suggested methods for filling in the missing data.</a:t>
            </a:r>
          </a:p>
          <a:p>
            <a:pPr algn="just">
              <a:lnSpc>
                <a:spcPts val="3919"/>
              </a:lnSpc>
            </a:pPr>
          </a:p>
        </p:txBody>
      </p:sp>
      <p:sp>
        <p:nvSpPr>
          <p:cNvPr name="Freeform 5" id="5"/>
          <p:cNvSpPr/>
          <p:nvPr/>
        </p:nvSpPr>
        <p:spPr>
          <a:xfrm flipH="true" flipV="false" rot="0">
            <a:off x="12762089" y="7152084"/>
            <a:ext cx="4153777" cy="2673522"/>
          </a:xfrm>
          <a:custGeom>
            <a:avLst/>
            <a:gdLst/>
            <a:ahLst/>
            <a:cxnLst/>
            <a:rect r="r" b="b" t="t" l="l"/>
            <a:pathLst>
              <a:path h="2673522" w="4153777">
                <a:moveTo>
                  <a:pt x="4153777" y="0"/>
                </a:moveTo>
                <a:lnTo>
                  <a:pt x="0" y="0"/>
                </a:lnTo>
                <a:lnTo>
                  <a:pt x="0" y="2673522"/>
                </a:lnTo>
                <a:lnTo>
                  <a:pt x="4153777" y="2673522"/>
                </a:lnTo>
                <a:lnTo>
                  <a:pt x="4153777"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1565436" y="850989"/>
            <a:ext cx="6698332" cy="1447238"/>
          </a:xfrm>
          <a:prstGeom prst="rect">
            <a:avLst/>
          </a:prstGeom>
        </p:spPr>
        <p:txBody>
          <a:bodyPr anchor="t" rtlCol="false" tIns="0" lIns="0" bIns="0" rIns="0">
            <a:spAutoFit/>
          </a:bodyPr>
          <a:lstStyle/>
          <a:p>
            <a:pPr algn="l">
              <a:lnSpc>
                <a:spcPts val="8083"/>
              </a:lnSpc>
            </a:pPr>
            <a:r>
              <a:rPr lang="en-US" sz="8003" b="true">
                <a:solidFill>
                  <a:srgbClr val="000000"/>
                </a:solidFill>
                <a:latin typeface="Karnchang SemiCondensed Bold"/>
                <a:ea typeface="Karnchang SemiCondensed Bold"/>
                <a:cs typeface="Karnchang SemiCondensed Bold"/>
                <a:sym typeface="Karnchang SemiCondensed Bol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565436" y="9239250"/>
            <a:ext cx="20019890" cy="0"/>
          </a:xfrm>
          <a:prstGeom prst="line">
            <a:avLst/>
          </a:prstGeom>
          <a:ln cap="flat" w="38100">
            <a:solidFill>
              <a:srgbClr val="000000"/>
            </a:solidFill>
            <a:prstDash val="solid"/>
            <a:headEnd type="diamond" len="lg" w="lg"/>
            <a:tailEnd type="none" len="sm" w="sm"/>
          </a:ln>
        </p:spPr>
      </p:sp>
      <p:sp>
        <p:nvSpPr>
          <p:cNvPr name="AutoShape 3" id="3"/>
          <p:cNvSpPr/>
          <p:nvPr/>
        </p:nvSpPr>
        <p:spPr>
          <a:xfrm flipV="true">
            <a:off x="624662" y="-18432980"/>
            <a:ext cx="0" cy="20019890"/>
          </a:xfrm>
          <a:prstGeom prst="line">
            <a:avLst/>
          </a:prstGeom>
          <a:ln cap="flat" w="38100">
            <a:solidFill>
              <a:srgbClr val="000000"/>
            </a:solidFill>
            <a:prstDash val="solid"/>
            <a:headEnd type="diamond" len="lg" w="lg"/>
            <a:tailEnd type="none" len="sm" w="sm"/>
          </a:ln>
        </p:spPr>
      </p:sp>
      <p:sp>
        <p:nvSpPr>
          <p:cNvPr name="Freeform 4" id="4"/>
          <p:cNvSpPr/>
          <p:nvPr/>
        </p:nvSpPr>
        <p:spPr>
          <a:xfrm flipH="false" flipV="false" rot="0">
            <a:off x="14328090" y="6594872"/>
            <a:ext cx="1975541" cy="3186356"/>
          </a:xfrm>
          <a:custGeom>
            <a:avLst/>
            <a:gdLst/>
            <a:ahLst/>
            <a:cxnLst/>
            <a:rect r="r" b="b" t="t" l="l"/>
            <a:pathLst>
              <a:path h="3186356" w="1975541">
                <a:moveTo>
                  <a:pt x="0" y="0"/>
                </a:moveTo>
                <a:lnTo>
                  <a:pt x="1975541" y="0"/>
                </a:lnTo>
                <a:lnTo>
                  <a:pt x="1975541" y="3186356"/>
                </a:lnTo>
                <a:lnTo>
                  <a:pt x="0" y="3186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565436" y="850989"/>
            <a:ext cx="10821418" cy="1447238"/>
          </a:xfrm>
          <a:prstGeom prst="rect">
            <a:avLst/>
          </a:prstGeom>
        </p:spPr>
        <p:txBody>
          <a:bodyPr anchor="t" rtlCol="false" tIns="0" lIns="0" bIns="0" rIns="0">
            <a:spAutoFit/>
          </a:bodyPr>
          <a:lstStyle/>
          <a:p>
            <a:pPr algn="l">
              <a:lnSpc>
                <a:spcPts val="8083"/>
              </a:lnSpc>
            </a:pPr>
            <a:r>
              <a:rPr lang="en-US" sz="8003" b="true">
                <a:solidFill>
                  <a:srgbClr val="000000"/>
                </a:solidFill>
                <a:latin typeface="Karnchang SemiCondensed Bold"/>
                <a:ea typeface="Karnchang SemiCondensed Bold"/>
                <a:cs typeface="Karnchang SemiCondensed Bold"/>
                <a:sym typeface="Karnchang SemiCondensed Bold"/>
              </a:rPr>
              <a:t>NULL Value Analysis</a:t>
            </a:r>
          </a:p>
        </p:txBody>
      </p:sp>
      <p:sp>
        <p:nvSpPr>
          <p:cNvPr name="TextBox 6" id="6"/>
          <p:cNvSpPr txBox="true"/>
          <p:nvPr/>
        </p:nvSpPr>
        <p:spPr>
          <a:xfrm rot="0">
            <a:off x="1565436" y="3249020"/>
            <a:ext cx="11891487" cy="4939030"/>
          </a:xfrm>
          <a:prstGeom prst="rect">
            <a:avLst/>
          </a:prstGeom>
        </p:spPr>
        <p:txBody>
          <a:bodyPr anchor="t" rtlCol="false" tIns="0" lIns="0" bIns="0" rIns="0">
            <a:spAutoFit/>
          </a:bodyPr>
          <a:lstStyle/>
          <a:p>
            <a:pPr algn="just" marL="604519" indent="-302260" lvl="1">
              <a:lnSpc>
                <a:spcPts val="3919"/>
              </a:lnSpc>
              <a:buFont typeface="Arial"/>
              <a:buChar char="•"/>
            </a:pPr>
            <a:r>
              <a:rPr lang="en-US" sz="2799">
                <a:solidFill>
                  <a:srgbClr val="000000"/>
                </a:solidFill>
                <a:latin typeface="PT Sans"/>
                <a:ea typeface="PT Sans"/>
                <a:cs typeface="PT Sans"/>
                <a:sym typeface="PT Sans"/>
              </a:rPr>
              <a:t>I used Polars, and after filtering the data for the MP state (labeled as 23), I cast the selected features to Int16 to save storage space.</a:t>
            </a:r>
          </a:p>
          <a:p>
            <a:pPr algn="just">
              <a:lnSpc>
                <a:spcPts val="3919"/>
              </a:lnSpc>
            </a:pPr>
          </a:p>
          <a:p>
            <a:pPr algn="just" marL="604519" indent="-302260" lvl="1">
              <a:lnSpc>
                <a:spcPts val="3919"/>
              </a:lnSpc>
              <a:buFont typeface="Arial"/>
              <a:buChar char="•"/>
            </a:pPr>
            <a:r>
              <a:rPr lang="en-US" sz="2799">
                <a:solidFill>
                  <a:srgbClr val="000000"/>
                </a:solidFill>
                <a:latin typeface="PT Sans"/>
                <a:ea typeface="PT Sans"/>
                <a:cs typeface="PT Sans"/>
                <a:sym typeface="PT Sans"/>
              </a:rPr>
              <a:t>I also filtered out the useful features to reduce computation time when generating the correlation plot, and calculated the percentage of null values using the Polars Python library.</a:t>
            </a:r>
          </a:p>
          <a:p>
            <a:pPr algn="just">
              <a:lnSpc>
                <a:spcPts val="3919"/>
              </a:lnSpc>
            </a:pPr>
          </a:p>
          <a:p>
            <a:pPr algn="just" marL="604519" indent="-302260" lvl="1">
              <a:lnSpc>
                <a:spcPts val="3919"/>
              </a:lnSpc>
              <a:buFont typeface="Arial"/>
              <a:buChar char="•"/>
            </a:pPr>
            <a:r>
              <a:rPr lang="en-US" sz="2799">
                <a:solidFill>
                  <a:srgbClr val="000000"/>
                </a:solidFill>
                <a:latin typeface="PT Sans"/>
                <a:ea typeface="PT Sans"/>
                <a:cs typeface="PT Sans"/>
                <a:sym typeface="PT Sans"/>
              </a:rPr>
              <a:t>After completing the state and feature selection, as well as the data type conversion, I converted the dataset into a Pandas DataFrame. Then, I used the Missingno Python library to visualize the missing values.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8402" y="921182"/>
            <a:ext cx="17540331" cy="9011345"/>
          </a:xfrm>
          <a:custGeom>
            <a:avLst/>
            <a:gdLst/>
            <a:ahLst/>
            <a:cxnLst/>
            <a:rect r="r" b="b" t="t" l="l"/>
            <a:pathLst>
              <a:path h="9011345" w="17540331">
                <a:moveTo>
                  <a:pt x="0" y="0"/>
                </a:moveTo>
                <a:lnTo>
                  <a:pt x="17540331" y="0"/>
                </a:lnTo>
                <a:lnTo>
                  <a:pt x="17540331" y="9011345"/>
                </a:lnTo>
                <a:lnTo>
                  <a:pt x="0" y="9011345"/>
                </a:lnTo>
                <a:lnTo>
                  <a:pt x="0" y="0"/>
                </a:lnTo>
                <a:close/>
              </a:path>
            </a:pathLst>
          </a:custGeom>
          <a:blipFill>
            <a:blip r:embed="rId2"/>
            <a:stretch>
              <a:fillRect l="0" t="0" r="0" b="0"/>
            </a:stretch>
          </a:blipFill>
        </p:spPr>
      </p:sp>
      <p:sp>
        <p:nvSpPr>
          <p:cNvPr name="TextBox 3" id="3"/>
          <p:cNvSpPr txBox="true"/>
          <p:nvPr/>
        </p:nvSpPr>
        <p:spPr>
          <a:xfrm rot="0">
            <a:off x="6049089" y="549275"/>
            <a:ext cx="6189822"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01: sURVERY/hOUSEHOLD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83585" y="1037272"/>
            <a:ext cx="16475715" cy="8999860"/>
          </a:xfrm>
          <a:custGeom>
            <a:avLst/>
            <a:gdLst/>
            <a:ahLst/>
            <a:cxnLst/>
            <a:rect r="r" b="b" t="t" l="l"/>
            <a:pathLst>
              <a:path h="8999860" w="16475715">
                <a:moveTo>
                  <a:pt x="0" y="0"/>
                </a:moveTo>
                <a:lnTo>
                  <a:pt x="16475715" y="0"/>
                </a:lnTo>
                <a:lnTo>
                  <a:pt x="16475715" y="8999860"/>
                </a:lnTo>
                <a:lnTo>
                  <a:pt x="0" y="8999860"/>
                </a:lnTo>
                <a:lnTo>
                  <a:pt x="0" y="0"/>
                </a:lnTo>
                <a:close/>
              </a:path>
            </a:pathLst>
          </a:custGeom>
          <a:blipFill>
            <a:blip r:embed="rId2"/>
            <a:stretch>
              <a:fillRect l="0" t="0" r="0" b="0"/>
            </a:stretch>
          </a:blipFill>
        </p:spPr>
      </p:sp>
      <p:sp>
        <p:nvSpPr>
          <p:cNvPr name="TextBox 3" id="3"/>
          <p:cNvSpPr txBox="true"/>
          <p:nvPr/>
        </p:nvSpPr>
        <p:spPr>
          <a:xfrm rot="0">
            <a:off x="6715103" y="549275"/>
            <a:ext cx="3462576"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02: PERSON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7203" y="915564"/>
            <a:ext cx="17598942" cy="9371436"/>
          </a:xfrm>
          <a:custGeom>
            <a:avLst/>
            <a:gdLst/>
            <a:ahLst/>
            <a:cxnLst/>
            <a:rect r="r" b="b" t="t" l="l"/>
            <a:pathLst>
              <a:path h="9371436" w="17598942">
                <a:moveTo>
                  <a:pt x="0" y="0"/>
                </a:moveTo>
                <a:lnTo>
                  <a:pt x="17598942" y="0"/>
                </a:lnTo>
                <a:lnTo>
                  <a:pt x="17598942" y="9371436"/>
                </a:lnTo>
                <a:lnTo>
                  <a:pt x="0" y="9371436"/>
                </a:lnTo>
                <a:lnTo>
                  <a:pt x="0" y="0"/>
                </a:lnTo>
                <a:close/>
              </a:path>
            </a:pathLst>
          </a:custGeom>
          <a:blipFill>
            <a:blip r:embed="rId2"/>
            <a:stretch>
              <a:fillRect l="0" t="0" r="0" b="0"/>
            </a:stretch>
          </a:blipFill>
        </p:spPr>
      </p:sp>
      <p:sp>
        <p:nvSpPr>
          <p:cNvPr name="TextBox 3" id="3"/>
          <p:cNvSpPr txBox="true"/>
          <p:nvPr/>
        </p:nvSpPr>
        <p:spPr>
          <a:xfrm rot="0">
            <a:off x="6538674" y="427566"/>
            <a:ext cx="5210651"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03: SOCI0-ECONOMIC</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04451" y="1290390"/>
            <a:ext cx="16554849" cy="8877538"/>
          </a:xfrm>
          <a:custGeom>
            <a:avLst/>
            <a:gdLst/>
            <a:ahLst/>
            <a:cxnLst/>
            <a:rect r="r" b="b" t="t" l="l"/>
            <a:pathLst>
              <a:path h="8877538" w="16554849">
                <a:moveTo>
                  <a:pt x="0" y="0"/>
                </a:moveTo>
                <a:lnTo>
                  <a:pt x="16554849" y="0"/>
                </a:lnTo>
                <a:lnTo>
                  <a:pt x="16554849" y="8877538"/>
                </a:lnTo>
                <a:lnTo>
                  <a:pt x="0" y="8877538"/>
                </a:lnTo>
                <a:lnTo>
                  <a:pt x="0" y="0"/>
                </a:lnTo>
                <a:close/>
              </a:path>
            </a:pathLst>
          </a:custGeom>
          <a:blipFill>
            <a:blip r:embed="rId2"/>
            <a:stretch>
              <a:fillRect l="0" t="0" r="0" b="0"/>
            </a:stretch>
          </a:blipFill>
        </p:spPr>
      </p:sp>
      <p:sp>
        <p:nvSpPr>
          <p:cNvPr name="TextBox 3" id="3"/>
          <p:cNvSpPr txBox="true"/>
          <p:nvPr/>
        </p:nvSpPr>
        <p:spPr>
          <a:xfrm rot="0">
            <a:off x="6615172" y="549275"/>
            <a:ext cx="5057656"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04: RATION/ ONLINE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2599" y="1420495"/>
            <a:ext cx="15782803" cy="8345157"/>
          </a:xfrm>
          <a:custGeom>
            <a:avLst/>
            <a:gdLst/>
            <a:ahLst/>
            <a:cxnLst/>
            <a:rect r="r" b="b" t="t" l="l"/>
            <a:pathLst>
              <a:path h="8345157" w="15782803">
                <a:moveTo>
                  <a:pt x="0" y="0"/>
                </a:moveTo>
                <a:lnTo>
                  <a:pt x="15782802" y="0"/>
                </a:lnTo>
                <a:lnTo>
                  <a:pt x="15782802" y="8345157"/>
                </a:lnTo>
                <a:lnTo>
                  <a:pt x="0" y="8345157"/>
                </a:lnTo>
                <a:lnTo>
                  <a:pt x="0" y="0"/>
                </a:lnTo>
                <a:close/>
              </a:path>
            </a:pathLst>
          </a:custGeom>
          <a:blipFill>
            <a:blip r:embed="rId2"/>
            <a:stretch>
              <a:fillRect l="0" t="0" r="0" b="0"/>
            </a:stretch>
          </a:blipFill>
        </p:spPr>
      </p:sp>
      <p:sp>
        <p:nvSpPr>
          <p:cNvPr name="TextBox 3" id="3"/>
          <p:cNvSpPr txBox="true"/>
          <p:nvPr/>
        </p:nvSpPr>
        <p:spPr>
          <a:xfrm rot="0">
            <a:off x="6202144" y="549275"/>
            <a:ext cx="5883712"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05: FOOD CONSUMPITION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420495"/>
            <a:ext cx="16034075" cy="8117250"/>
          </a:xfrm>
          <a:custGeom>
            <a:avLst/>
            <a:gdLst/>
            <a:ahLst/>
            <a:cxnLst/>
            <a:rect r="r" b="b" t="t" l="l"/>
            <a:pathLst>
              <a:path h="8117250" w="16034075">
                <a:moveTo>
                  <a:pt x="0" y="0"/>
                </a:moveTo>
                <a:lnTo>
                  <a:pt x="16034075" y="0"/>
                </a:lnTo>
                <a:lnTo>
                  <a:pt x="16034075" y="8117250"/>
                </a:lnTo>
                <a:lnTo>
                  <a:pt x="0" y="8117250"/>
                </a:lnTo>
                <a:lnTo>
                  <a:pt x="0" y="0"/>
                </a:lnTo>
                <a:close/>
              </a:path>
            </a:pathLst>
          </a:custGeom>
          <a:blipFill>
            <a:blip r:embed="rId2"/>
            <a:stretch>
              <a:fillRect l="0" t="0" r="0" b="0"/>
            </a:stretch>
          </a:blipFill>
        </p:spPr>
      </p:sp>
      <p:sp>
        <p:nvSpPr>
          <p:cNvPr name="TextBox 3" id="3"/>
          <p:cNvSpPr txBox="true"/>
          <p:nvPr/>
        </p:nvSpPr>
        <p:spPr>
          <a:xfrm rot="0">
            <a:off x="6152912" y="549275"/>
            <a:ext cx="5982176"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06: CONSUMPTION VALUE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98658" y="1420495"/>
            <a:ext cx="16690684" cy="8637429"/>
          </a:xfrm>
          <a:custGeom>
            <a:avLst/>
            <a:gdLst/>
            <a:ahLst/>
            <a:cxnLst/>
            <a:rect r="r" b="b" t="t" l="l"/>
            <a:pathLst>
              <a:path h="8637429" w="16690684">
                <a:moveTo>
                  <a:pt x="0" y="0"/>
                </a:moveTo>
                <a:lnTo>
                  <a:pt x="16690684" y="0"/>
                </a:lnTo>
                <a:lnTo>
                  <a:pt x="16690684" y="8637429"/>
                </a:lnTo>
                <a:lnTo>
                  <a:pt x="0" y="8637429"/>
                </a:lnTo>
                <a:lnTo>
                  <a:pt x="0" y="0"/>
                </a:lnTo>
                <a:close/>
              </a:path>
            </a:pathLst>
          </a:custGeom>
          <a:blipFill>
            <a:blip r:embed="rId2"/>
            <a:stretch>
              <a:fillRect l="0" t="0" r="0" b="0"/>
            </a:stretch>
          </a:blipFill>
        </p:spPr>
      </p:sp>
      <p:sp>
        <p:nvSpPr>
          <p:cNvPr name="TextBox 3" id="3"/>
          <p:cNvSpPr txBox="true"/>
          <p:nvPr/>
        </p:nvSpPr>
        <p:spPr>
          <a:xfrm rot="0">
            <a:off x="6199287" y="540703"/>
            <a:ext cx="5889427"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07: BENEFITS/ WALFARE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420495"/>
            <a:ext cx="16725107" cy="8425272"/>
          </a:xfrm>
          <a:custGeom>
            <a:avLst/>
            <a:gdLst/>
            <a:ahLst/>
            <a:cxnLst/>
            <a:rect r="r" b="b" t="t" l="l"/>
            <a:pathLst>
              <a:path h="8425272" w="16725107">
                <a:moveTo>
                  <a:pt x="0" y="0"/>
                </a:moveTo>
                <a:lnTo>
                  <a:pt x="16725107" y="0"/>
                </a:lnTo>
                <a:lnTo>
                  <a:pt x="16725107" y="8425272"/>
                </a:lnTo>
                <a:lnTo>
                  <a:pt x="0" y="8425272"/>
                </a:lnTo>
                <a:lnTo>
                  <a:pt x="0" y="0"/>
                </a:lnTo>
                <a:close/>
              </a:path>
            </a:pathLst>
          </a:custGeom>
          <a:blipFill>
            <a:blip r:embed="rId2"/>
            <a:stretch>
              <a:fillRect l="0" t="0" r="0" b="0"/>
            </a:stretch>
          </a:blipFill>
        </p:spPr>
      </p:sp>
      <p:sp>
        <p:nvSpPr>
          <p:cNvPr name="TextBox 3" id="3"/>
          <p:cNvSpPr txBox="true"/>
          <p:nvPr/>
        </p:nvSpPr>
        <p:spPr>
          <a:xfrm rot="0">
            <a:off x="6555819" y="396673"/>
            <a:ext cx="5176361"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08: NON-FOOD ITEMS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958328"/>
            <a:ext cx="15816418" cy="7730274"/>
          </a:xfrm>
          <a:custGeom>
            <a:avLst/>
            <a:gdLst/>
            <a:ahLst/>
            <a:cxnLst/>
            <a:rect r="r" b="b" t="t" l="l"/>
            <a:pathLst>
              <a:path h="7730274" w="15816418">
                <a:moveTo>
                  <a:pt x="0" y="0"/>
                </a:moveTo>
                <a:lnTo>
                  <a:pt x="15816418" y="0"/>
                </a:lnTo>
                <a:lnTo>
                  <a:pt x="15816418" y="7730274"/>
                </a:lnTo>
                <a:lnTo>
                  <a:pt x="0" y="7730274"/>
                </a:lnTo>
                <a:lnTo>
                  <a:pt x="0" y="0"/>
                </a:lnTo>
                <a:close/>
              </a:path>
            </a:pathLst>
          </a:custGeom>
          <a:blipFill>
            <a:blip r:embed="rId2"/>
            <a:stretch>
              <a:fillRect l="0" t="0" r="0" b="0"/>
            </a:stretch>
          </a:blipFill>
        </p:spPr>
      </p:sp>
      <p:sp>
        <p:nvSpPr>
          <p:cNvPr name="TextBox 3" id="3"/>
          <p:cNvSpPr txBox="true"/>
          <p:nvPr/>
        </p:nvSpPr>
        <p:spPr>
          <a:xfrm rot="0">
            <a:off x="6691074" y="549275"/>
            <a:ext cx="4905851"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09: NON-DURABLES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24278" y="1420495"/>
            <a:ext cx="16135022" cy="8591899"/>
          </a:xfrm>
          <a:custGeom>
            <a:avLst/>
            <a:gdLst/>
            <a:ahLst/>
            <a:cxnLst/>
            <a:rect r="r" b="b" t="t" l="l"/>
            <a:pathLst>
              <a:path h="8591899" w="16135022">
                <a:moveTo>
                  <a:pt x="0" y="0"/>
                </a:moveTo>
                <a:lnTo>
                  <a:pt x="16135022" y="0"/>
                </a:lnTo>
                <a:lnTo>
                  <a:pt x="16135022" y="8591899"/>
                </a:lnTo>
                <a:lnTo>
                  <a:pt x="0" y="8591899"/>
                </a:lnTo>
                <a:lnTo>
                  <a:pt x="0" y="0"/>
                </a:lnTo>
                <a:close/>
              </a:path>
            </a:pathLst>
          </a:custGeom>
          <a:blipFill>
            <a:blip r:embed="rId2"/>
            <a:stretch>
              <a:fillRect l="0" t="0" r="0" b="0"/>
            </a:stretch>
          </a:blipFill>
        </p:spPr>
      </p:sp>
      <p:sp>
        <p:nvSpPr>
          <p:cNvPr name="TextBox 3" id="3"/>
          <p:cNvSpPr txBox="true"/>
          <p:nvPr/>
        </p:nvSpPr>
        <p:spPr>
          <a:xfrm rot="0">
            <a:off x="6144696" y="549275"/>
            <a:ext cx="5998607"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10: Services/Utillities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82980"/>
            <a:ext cx="18288000" cy="9304020"/>
          </a:xfrm>
          <a:custGeom>
            <a:avLst/>
            <a:gdLst/>
            <a:ahLst/>
            <a:cxnLst/>
            <a:rect r="r" b="b" t="t" l="l"/>
            <a:pathLst>
              <a:path h="9304020" w="18288000">
                <a:moveTo>
                  <a:pt x="0" y="0"/>
                </a:moveTo>
                <a:lnTo>
                  <a:pt x="18288000" y="0"/>
                </a:lnTo>
                <a:lnTo>
                  <a:pt x="18288000" y="9304020"/>
                </a:lnTo>
                <a:lnTo>
                  <a:pt x="0" y="9304020"/>
                </a:lnTo>
                <a:lnTo>
                  <a:pt x="0" y="0"/>
                </a:lnTo>
                <a:close/>
              </a:path>
            </a:pathLst>
          </a:custGeom>
          <a:blipFill>
            <a:blip r:embed="rId2"/>
            <a:stretch>
              <a:fillRect l="0" t="0" r="0" b="0"/>
            </a:stretch>
          </a:blipFill>
        </p:spPr>
      </p:sp>
      <p:sp>
        <p:nvSpPr>
          <p:cNvPr name="TextBox 3" id="3"/>
          <p:cNvSpPr txBox="true"/>
          <p:nvPr/>
        </p:nvSpPr>
        <p:spPr>
          <a:xfrm rot="0">
            <a:off x="6043077" y="309472"/>
            <a:ext cx="6201846"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11: Assets/Possessions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037989"/>
            <a:ext cx="16317087" cy="7220311"/>
          </a:xfrm>
          <a:custGeom>
            <a:avLst/>
            <a:gdLst/>
            <a:ahLst/>
            <a:cxnLst/>
            <a:rect r="r" b="b" t="t" l="l"/>
            <a:pathLst>
              <a:path h="7220311" w="16317087">
                <a:moveTo>
                  <a:pt x="0" y="0"/>
                </a:moveTo>
                <a:lnTo>
                  <a:pt x="16317087" y="0"/>
                </a:lnTo>
                <a:lnTo>
                  <a:pt x="16317087" y="7220311"/>
                </a:lnTo>
                <a:lnTo>
                  <a:pt x="0" y="7220311"/>
                </a:lnTo>
                <a:lnTo>
                  <a:pt x="0" y="0"/>
                </a:lnTo>
                <a:close/>
              </a:path>
            </a:pathLst>
          </a:custGeom>
          <a:blipFill>
            <a:blip r:embed="rId2"/>
            <a:stretch>
              <a:fillRect l="0" t="0" r="0" b="0"/>
            </a:stretch>
          </a:blipFill>
        </p:spPr>
      </p:sp>
      <p:sp>
        <p:nvSpPr>
          <p:cNvPr name="TextBox 3" id="3"/>
          <p:cNvSpPr txBox="true"/>
          <p:nvPr/>
        </p:nvSpPr>
        <p:spPr>
          <a:xfrm rot="0">
            <a:off x="6087189" y="549275"/>
            <a:ext cx="6113622"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12: Clothing/Footwear</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97911" y="1420495"/>
            <a:ext cx="16892178" cy="8446089"/>
          </a:xfrm>
          <a:custGeom>
            <a:avLst/>
            <a:gdLst/>
            <a:ahLst/>
            <a:cxnLst/>
            <a:rect r="r" b="b" t="t" l="l"/>
            <a:pathLst>
              <a:path h="8446089" w="16892178">
                <a:moveTo>
                  <a:pt x="0" y="0"/>
                </a:moveTo>
                <a:lnTo>
                  <a:pt x="16892178" y="0"/>
                </a:lnTo>
                <a:lnTo>
                  <a:pt x="16892178" y="8446089"/>
                </a:lnTo>
                <a:lnTo>
                  <a:pt x="0" y="8446089"/>
                </a:lnTo>
                <a:lnTo>
                  <a:pt x="0" y="0"/>
                </a:lnTo>
                <a:close/>
              </a:path>
            </a:pathLst>
          </a:custGeom>
          <a:blipFill>
            <a:blip r:embed="rId2"/>
            <a:stretch>
              <a:fillRect l="0" t="0" r="0" b="0"/>
            </a:stretch>
          </a:blipFill>
        </p:spPr>
      </p:sp>
      <p:sp>
        <p:nvSpPr>
          <p:cNvPr name="TextBox 3" id="3"/>
          <p:cNvSpPr txBox="true"/>
          <p:nvPr/>
        </p:nvSpPr>
        <p:spPr>
          <a:xfrm rot="0">
            <a:off x="6619637" y="549275"/>
            <a:ext cx="5048726"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13: Durable Goods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031687"/>
            <a:ext cx="16331329" cy="7226613"/>
          </a:xfrm>
          <a:custGeom>
            <a:avLst/>
            <a:gdLst/>
            <a:ahLst/>
            <a:cxnLst/>
            <a:rect r="r" b="b" t="t" l="l"/>
            <a:pathLst>
              <a:path h="7226613" w="16331329">
                <a:moveTo>
                  <a:pt x="0" y="0"/>
                </a:moveTo>
                <a:lnTo>
                  <a:pt x="16331329" y="0"/>
                </a:lnTo>
                <a:lnTo>
                  <a:pt x="16331329" y="7226613"/>
                </a:lnTo>
                <a:lnTo>
                  <a:pt x="0" y="7226613"/>
                </a:lnTo>
                <a:lnTo>
                  <a:pt x="0" y="0"/>
                </a:lnTo>
                <a:close/>
              </a:path>
            </a:pathLst>
          </a:custGeom>
          <a:blipFill>
            <a:blip r:embed="rId2"/>
            <a:stretch>
              <a:fillRect l="0" t="0" r="0" b="0"/>
            </a:stretch>
          </a:blipFill>
        </p:spPr>
      </p:sp>
      <p:sp>
        <p:nvSpPr>
          <p:cNvPr name="TextBox 3" id="3"/>
          <p:cNvSpPr txBox="true"/>
          <p:nvPr/>
        </p:nvSpPr>
        <p:spPr>
          <a:xfrm rot="0">
            <a:off x="6233577" y="549275"/>
            <a:ext cx="5820846"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14: Total Expenditure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0387" y="1420495"/>
            <a:ext cx="16230600" cy="8338471"/>
          </a:xfrm>
          <a:custGeom>
            <a:avLst/>
            <a:gdLst/>
            <a:ahLst/>
            <a:cxnLst/>
            <a:rect r="r" b="b" t="t" l="l"/>
            <a:pathLst>
              <a:path h="8338471" w="16230600">
                <a:moveTo>
                  <a:pt x="0" y="0"/>
                </a:moveTo>
                <a:lnTo>
                  <a:pt x="16230600" y="0"/>
                </a:lnTo>
                <a:lnTo>
                  <a:pt x="16230600" y="8338471"/>
                </a:lnTo>
                <a:lnTo>
                  <a:pt x="0" y="8338471"/>
                </a:lnTo>
                <a:lnTo>
                  <a:pt x="0" y="0"/>
                </a:lnTo>
                <a:close/>
              </a:path>
            </a:pathLst>
          </a:custGeom>
          <a:blipFill>
            <a:blip r:embed="rId2"/>
            <a:stretch>
              <a:fillRect l="0" t="0" r="0" b="0"/>
            </a:stretch>
          </a:blipFill>
        </p:spPr>
      </p:sp>
      <p:sp>
        <p:nvSpPr>
          <p:cNvPr name="TextBox 3" id="3"/>
          <p:cNvSpPr txBox="true"/>
          <p:nvPr/>
        </p:nvSpPr>
        <p:spPr>
          <a:xfrm rot="0">
            <a:off x="6024979" y="549275"/>
            <a:ext cx="6238042" cy="871220"/>
          </a:xfrm>
          <a:prstGeom prst="rect">
            <a:avLst/>
          </a:prstGeom>
        </p:spPr>
        <p:txBody>
          <a:bodyPr anchor="t" rtlCol="false" tIns="0" lIns="0" bIns="0" rIns="0">
            <a:spAutoFit/>
          </a:bodyPr>
          <a:lstStyle/>
          <a:p>
            <a:pPr algn="ctr">
              <a:lnSpc>
                <a:spcPts val="7000"/>
              </a:lnSpc>
              <a:spcBef>
                <a:spcPct val="0"/>
              </a:spcBef>
            </a:pPr>
            <a:r>
              <a:rPr lang="en-US" b="true" sz="5000">
                <a:solidFill>
                  <a:srgbClr val="5E17EB"/>
                </a:solidFill>
                <a:latin typeface="Bebas Neue Bold"/>
                <a:ea typeface="Bebas Neue Bold"/>
                <a:cs typeface="Bebas Neue Bold"/>
                <a:sym typeface="Bebas Neue Bold"/>
              </a:rPr>
              <a:t>level 15: Summary/ Metadata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A4EB17"/>
        </a:solidFill>
      </p:bgPr>
    </p:bg>
    <p:spTree>
      <p:nvGrpSpPr>
        <p:cNvPr id="1" name=""/>
        <p:cNvGrpSpPr/>
        <p:nvPr/>
      </p:nvGrpSpPr>
      <p:grpSpPr>
        <a:xfrm>
          <a:off x="0" y="0"/>
          <a:ext cx="0" cy="0"/>
          <a:chOff x="0" y="0"/>
          <a:chExt cx="0" cy="0"/>
        </a:xfrm>
      </p:grpSpPr>
      <p:sp>
        <p:nvSpPr>
          <p:cNvPr name="AutoShape 2" id="2"/>
          <p:cNvSpPr/>
          <p:nvPr/>
        </p:nvSpPr>
        <p:spPr>
          <a:xfrm>
            <a:off x="1565436" y="9239250"/>
            <a:ext cx="20019890" cy="0"/>
          </a:xfrm>
          <a:prstGeom prst="line">
            <a:avLst/>
          </a:prstGeom>
          <a:ln cap="flat" w="38100">
            <a:solidFill>
              <a:srgbClr val="000000"/>
            </a:solidFill>
            <a:prstDash val="solid"/>
            <a:headEnd type="diamond" len="lg" w="lg"/>
            <a:tailEnd type="none" len="sm" w="sm"/>
          </a:ln>
        </p:spPr>
      </p:sp>
      <p:sp>
        <p:nvSpPr>
          <p:cNvPr name="AutoShape 3" id="3"/>
          <p:cNvSpPr/>
          <p:nvPr/>
        </p:nvSpPr>
        <p:spPr>
          <a:xfrm flipV="true">
            <a:off x="624662" y="-18432980"/>
            <a:ext cx="0" cy="20019890"/>
          </a:xfrm>
          <a:prstGeom prst="line">
            <a:avLst/>
          </a:prstGeom>
          <a:ln cap="flat" w="38100">
            <a:solidFill>
              <a:srgbClr val="000000"/>
            </a:solidFill>
            <a:prstDash val="solid"/>
            <a:headEnd type="diamond" len="lg" w="lg"/>
            <a:tailEnd type="none" len="sm" w="sm"/>
          </a:ln>
        </p:spPr>
      </p:sp>
      <p:sp>
        <p:nvSpPr>
          <p:cNvPr name="Freeform 4" id="4"/>
          <p:cNvSpPr/>
          <p:nvPr/>
        </p:nvSpPr>
        <p:spPr>
          <a:xfrm flipH="false" flipV="false" rot="0">
            <a:off x="14294283" y="6594549"/>
            <a:ext cx="2168388" cy="3223280"/>
          </a:xfrm>
          <a:custGeom>
            <a:avLst/>
            <a:gdLst/>
            <a:ahLst/>
            <a:cxnLst/>
            <a:rect r="r" b="b" t="t" l="l"/>
            <a:pathLst>
              <a:path h="3223280" w="2168388">
                <a:moveTo>
                  <a:pt x="0" y="0"/>
                </a:moveTo>
                <a:lnTo>
                  <a:pt x="2168388" y="0"/>
                </a:lnTo>
                <a:lnTo>
                  <a:pt x="2168388" y="3223280"/>
                </a:lnTo>
                <a:lnTo>
                  <a:pt x="0" y="32232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5" id="5"/>
          <p:cNvSpPr txBox="true"/>
          <p:nvPr/>
        </p:nvSpPr>
        <p:spPr>
          <a:xfrm rot="0">
            <a:off x="1565436" y="850989"/>
            <a:ext cx="12728847" cy="1440893"/>
          </a:xfrm>
          <a:prstGeom prst="rect">
            <a:avLst/>
          </a:prstGeom>
        </p:spPr>
        <p:txBody>
          <a:bodyPr anchor="t" rtlCol="false" tIns="0" lIns="0" bIns="0" rIns="0">
            <a:spAutoFit/>
          </a:bodyPr>
          <a:lstStyle/>
          <a:p>
            <a:pPr algn="l">
              <a:lnSpc>
                <a:spcPts val="8083"/>
              </a:lnSpc>
            </a:pPr>
            <a:r>
              <a:rPr lang="en-US" sz="8003" b="true">
                <a:solidFill>
                  <a:srgbClr val="000000"/>
                </a:solidFill>
                <a:latin typeface="Karnchang SemiCondensed Bold"/>
                <a:ea typeface="Karnchang SemiCondensed Bold"/>
                <a:cs typeface="Karnchang SemiCondensed Bold"/>
                <a:sym typeface="Karnchang SemiCondensed Bold"/>
              </a:rPr>
              <a:t>Filling Method Suggestions</a:t>
            </a:r>
          </a:p>
        </p:txBody>
      </p:sp>
      <p:sp>
        <p:nvSpPr>
          <p:cNvPr name="TextBox 6" id="6"/>
          <p:cNvSpPr txBox="true"/>
          <p:nvPr/>
        </p:nvSpPr>
        <p:spPr>
          <a:xfrm rot="0">
            <a:off x="2781987" y="8388985"/>
            <a:ext cx="11123676" cy="692150"/>
          </a:xfrm>
          <a:prstGeom prst="rect">
            <a:avLst/>
          </a:prstGeom>
        </p:spPr>
        <p:txBody>
          <a:bodyPr anchor="t" rtlCol="false" tIns="0" lIns="0" bIns="0" rIns="0">
            <a:spAutoFit/>
          </a:bodyPr>
          <a:lstStyle/>
          <a:p>
            <a:pPr algn="l">
              <a:lnSpc>
                <a:spcPts val="2800"/>
              </a:lnSpc>
            </a:pPr>
            <a:r>
              <a:rPr lang="en-US" sz="2000" u="sng">
                <a:solidFill>
                  <a:srgbClr val="000000"/>
                </a:solidFill>
                <a:latin typeface="PT Sans"/>
                <a:ea typeface="PT Sans"/>
                <a:cs typeface="PT Sans"/>
                <a:sym typeface="PT Sans"/>
                <a:hlinkClick r:id="rId4" tooltip="https://github.com/Rudra-G-23/Play-with-Data/blob/main/Data_Accessing_%26_Cleaning/Handling%20Missing%20Values%20Chart.md"/>
              </a:rPr>
              <a:t>https://github.com/Rudra-G-23/Play-with-Data/blob/main/Data_Accessing_%26_Cleaning/Handling%20Missing%20Values%20Chart.md</a:t>
            </a:r>
          </a:p>
        </p:txBody>
      </p:sp>
      <p:sp>
        <p:nvSpPr>
          <p:cNvPr name="TextBox 7" id="7"/>
          <p:cNvSpPr txBox="true"/>
          <p:nvPr/>
        </p:nvSpPr>
        <p:spPr>
          <a:xfrm rot="0">
            <a:off x="1859942" y="8358094"/>
            <a:ext cx="1467327" cy="339725"/>
          </a:xfrm>
          <a:prstGeom prst="rect">
            <a:avLst/>
          </a:prstGeom>
        </p:spPr>
        <p:txBody>
          <a:bodyPr anchor="t" rtlCol="false" tIns="0" lIns="0" bIns="0" rIns="0">
            <a:spAutoFit/>
          </a:bodyPr>
          <a:lstStyle/>
          <a:p>
            <a:pPr algn="just">
              <a:lnSpc>
                <a:spcPts val="2800"/>
              </a:lnSpc>
            </a:pPr>
            <a:r>
              <a:rPr lang="en-US" b="true" sz="2000">
                <a:solidFill>
                  <a:srgbClr val="000000"/>
                </a:solidFill>
                <a:latin typeface="PT Sans Bold"/>
                <a:ea typeface="PT Sans Bold"/>
                <a:cs typeface="PT Sans Bold"/>
                <a:sym typeface="PT Sans Bold"/>
              </a:rPr>
              <a:t>Source:</a:t>
            </a:r>
          </a:p>
        </p:txBody>
      </p:sp>
      <p:sp>
        <p:nvSpPr>
          <p:cNvPr name="TextBox 8" id="8"/>
          <p:cNvSpPr txBox="true"/>
          <p:nvPr/>
        </p:nvSpPr>
        <p:spPr>
          <a:xfrm rot="0">
            <a:off x="2335648" y="2691214"/>
            <a:ext cx="11188423" cy="527939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PT Sans"/>
                <a:ea typeface="PT Sans"/>
                <a:cs typeface="PT Sans"/>
                <a:sym typeface="PT Sans"/>
              </a:rPr>
              <a:t>If these features are checkb</a:t>
            </a:r>
            <a:r>
              <a:rPr lang="en-US" sz="3000">
                <a:solidFill>
                  <a:srgbClr val="000000"/>
                </a:solidFill>
                <a:latin typeface="PT Sans"/>
                <a:ea typeface="PT Sans"/>
                <a:cs typeface="PT Sans"/>
                <a:sym typeface="PT Sans"/>
              </a:rPr>
              <a:t>oxes in the survey, fill missing values with 0 (No).</a:t>
            </a:r>
          </a:p>
          <a:p>
            <a:pPr algn="l">
              <a:lnSpc>
                <a:spcPts val="4200"/>
              </a:lnSpc>
            </a:pPr>
          </a:p>
          <a:p>
            <a:pPr algn="l" marL="647700" indent="-323850" lvl="1">
              <a:lnSpc>
                <a:spcPts val="4200"/>
              </a:lnSpc>
              <a:buFont typeface="Arial"/>
              <a:buChar char="•"/>
            </a:pPr>
            <a:r>
              <a:rPr lang="en-US" sz="3000">
                <a:solidFill>
                  <a:srgbClr val="000000"/>
                </a:solidFill>
                <a:latin typeface="PT Sans"/>
                <a:ea typeface="PT Sans"/>
                <a:cs typeface="PT Sans"/>
                <a:sym typeface="PT Sans"/>
              </a:rPr>
              <a:t>If these features are categorical, create bins or categories as needed.</a:t>
            </a:r>
          </a:p>
          <a:p>
            <a:pPr algn="l">
              <a:lnSpc>
                <a:spcPts val="4200"/>
              </a:lnSpc>
            </a:pPr>
          </a:p>
          <a:p>
            <a:pPr algn="l" marL="647700" indent="-323850" lvl="1">
              <a:lnSpc>
                <a:spcPts val="4200"/>
              </a:lnSpc>
              <a:buFont typeface="Arial"/>
              <a:buChar char="•"/>
            </a:pPr>
            <a:r>
              <a:rPr lang="en-US" sz="3000">
                <a:solidFill>
                  <a:srgbClr val="000000"/>
                </a:solidFill>
                <a:latin typeface="PT Sans"/>
                <a:ea typeface="PT Sans"/>
                <a:cs typeface="PT Sans"/>
                <a:sym typeface="PT Sans"/>
              </a:rPr>
              <a:t>If these features are numerical, handle missing values using methods such as KNN imputation, mean/median imputation, dropping rows, or iterative imputation.</a:t>
            </a:r>
          </a:p>
          <a:p>
            <a:pPr algn="l">
              <a:lnSpc>
                <a:spcPts val="3919"/>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565436" y="9239250"/>
            <a:ext cx="20019890" cy="0"/>
          </a:xfrm>
          <a:prstGeom prst="line">
            <a:avLst/>
          </a:prstGeom>
          <a:ln cap="flat" w="38100">
            <a:solidFill>
              <a:srgbClr val="000000"/>
            </a:solidFill>
            <a:prstDash val="solid"/>
            <a:headEnd type="diamond" len="lg" w="lg"/>
            <a:tailEnd type="none" len="sm" w="sm"/>
          </a:ln>
        </p:spPr>
      </p:sp>
      <p:sp>
        <p:nvSpPr>
          <p:cNvPr name="AutoShape 3" id="3"/>
          <p:cNvSpPr/>
          <p:nvPr/>
        </p:nvSpPr>
        <p:spPr>
          <a:xfrm flipV="true">
            <a:off x="624662" y="-18432980"/>
            <a:ext cx="0" cy="20019890"/>
          </a:xfrm>
          <a:prstGeom prst="line">
            <a:avLst/>
          </a:prstGeom>
          <a:ln cap="flat" w="38100">
            <a:solidFill>
              <a:srgbClr val="000000"/>
            </a:solidFill>
            <a:prstDash val="solid"/>
            <a:headEnd type="diamond" len="lg" w="lg"/>
            <a:tailEnd type="none" len="sm" w="sm"/>
          </a:ln>
        </p:spPr>
      </p:sp>
      <p:sp>
        <p:nvSpPr>
          <p:cNvPr name="Freeform 4" id="4"/>
          <p:cNvSpPr/>
          <p:nvPr/>
        </p:nvSpPr>
        <p:spPr>
          <a:xfrm flipH="false" flipV="false" rot="0">
            <a:off x="14294283" y="6594549"/>
            <a:ext cx="2168388" cy="3223280"/>
          </a:xfrm>
          <a:custGeom>
            <a:avLst/>
            <a:gdLst/>
            <a:ahLst/>
            <a:cxnLst/>
            <a:rect r="r" b="b" t="t" l="l"/>
            <a:pathLst>
              <a:path h="3223280" w="2168388">
                <a:moveTo>
                  <a:pt x="0" y="0"/>
                </a:moveTo>
                <a:lnTo>
                  <a:pt x="2168388" y="0"/>
                </a:lnTo>
                <a:lnTo>
                  <a:pt x="2168388" y="3223280"/>
                </a:lnTo>
                <a:lnTo>
                  <a:pt x="0" y="32232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aphicFrame>
        <p:nvGraphicFramePr>
          <p:cNvPr name="Object 5" id="5"/>
          <p:cNvGraphicFramePr/>
          <p:nvPr/>
        </p:nvGraphicFramePr>
        <p:xfrm>
          <a:off x="2593606" y="2686050"/>
          <a:ext cx="7543800" cy="3771900"/>
        </p:xfrm>
        <a:graphic>
          <a:graphicData uri="http://schemas.openxmlformats.org/presentationml/2006/ole">
            <p:oleObj imgW="9042400" imgH="5270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6" id="6"/>
          <p:cNvSpPr txBox="true"/>
          <p:nvPr/>
        </p:nvSpPr>
        <p:spPr>
          <a:xfrm rot="0">
            <a:off x="1565436" y="850989"/>
            <a:ext cx="12728847" cy="1440893"/>
          </a:xfrm>
          <a:prstGeom prst="rect">
            <a:avLst/>
          </a:prstGeom>
        </p:spPr>
        <p:txBody>
          <a:bodyPr anchor="t" rtlCol="false" tIns="0" lIns="0" bIns="0" rIns="0">
            <a:spAutoFit/>
          </a:bodyPr>
          <a:lstStyle/>
          <a:p>
            <a:pPr algn="l">
              <a:lnSpc>
                <a:spcPts val="8083"/>
              </a:lnSpc>
            </a:pPr>
            <a:r>
              <a:rPr lang="en-US" sz="8003" b="true">
                <a:solidFill>
                  <a:srgbClr val="000000"/>
                </a:solidFill>
                <a:latin typeface="Karnchang SemiCondensed Bold"/>
                <a:ea typeface="Karnchang SemiCondensed Bold"/>
                <a:cs typeface="Karnchang SemiCondensed Bold"/>
                <a:sym typeface="Karnchang SemiCondensed Bold"/>
              </a:rPr>
              <a:t>Filling Method Suggestions</a:t>
            </a:r>
          </a:p>
        </p:txBody>
      </p:sp>
      <p:sp>
        <p:nvSpPr>
          <p:cNvPr name="TextBox 7" id="7"/>
          <p:cNvSpPr txBox="true"/>
          <p:nvPr/>
        </p:nvSpPr>
        <p:spPr>
          <a:xfrm rot="0">
            <a:off x="2781987" y="8388985"/>
            <a:ext cx="11123676" cy="692150"/>
          </a:xfrm>
          <a:prstGeom prst="rect">
            <a:avLst/>
          </a:prstGeom>
        </p:spPr>
        <p:txBody>
          <a:bodyPr anchor="t" rtlCol="false" tIns="0" lIns="0" bIns="0" rIns="0">
            <a:spAutoFit/>
          </a:bodyPr>
          <a:lstStyle/>
          <a:p>
            <a:pPr algn="l">
              <a:lnSpc>
                <a:spcPts val="2800"/>
              </a:lnSpc>
            </a:pPr>
            <a:r>
              <a:rPr lang="en-US" sz="2000" u="sng">
                <a:solidFill>
                  <a:srgbClr val="000000"/>
                </a:solidFill>
                <a:latin typeface="PT Sans"/>
                <a:ea typeface="PT Sans"/>
                <a:cs typeface="PT Sans"/>
                <a:sym typeface="PT Sans"/>
                <a:hlinkClick r:id="rId6" tooltip="https://github.com/Rudra-G-23/Play-with-Data/blob/main/Data_Accessing_%26_Cleaning/Handling%20Missing%20Values%20Chart.md"/>
              </a:rPr>
              <a:t>https://github.com/Rudra-G-23/Play-with-Data/blob/main/Data_Accessing_%26_Cleaning/Handling%20Missing%20Values%20Chart.md</a:t>
            </a:r>
          </a:p>
        </p:txBody>
      </p:sp>
      <p:sp>
        <p:nvSpPr>
          <p:cNvPr name="TextBox 8" id="8"/>
          <p:cNvSpPr txBox="true"/>
          <p:nvPr/>
        </p:nvSpPr>
        <p:spPr>
          <a:xfrm rot="0">
            <a:off x="1859942" y="8358094"/>
            <a:ext cx="1467327" cy="339725"/>
          </a:xfrm>
          <a:prstGeom prst="rect">
            <a:avLst/>
          </a:prstGeom>
        </p:spPr>
        <p:txBody>
          <a:bodyPr anchor="t" rtlCol="false" tIns="0" lIns="0" bIns="0" rIns="0">
            <a:spAutoFit/>
          </a:bodyPr>
          <a:lstStyle/>
          <a:p>
            <a:pPr algn="just">
              <a:lnSpc>
                <a:spcPts val="2800"/>
              </a:lnSpc>
            </a:pPr>
            <a:r>
              <a:rPr lang="en-US" b="true" sz="2000">
                <a:solidFill>
                  <a:srgbClr val="000000"/>
                </a:solidFill>
                <a:latin typeface="PT Sans Bold"/>
                <a:ea typeface="PT Sans Bold"/>
                <a:cs typeface="PT Sans Bold"/>
                <a:sym typeface="PT Sans Bold"/>
              </a:rPr>
              <a:t>Source: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0F7FE"/>
        </a:solidFill>
      </p:bgPr>
    </p:bg>
    <p:spTree>
      <p:nvGrpSpPr>
        <p:cNvPr id="1" name=""/>
        <p:cNvGrpSpPr/>
        <p:nvPr/>
      </p:nvGrpSpPr>
      <p:grpSpPr>
        <a:xfrm>
          <a:off x="0" y="0"/>
          <a:ext cx="0" cy="0"/>
          <a:chOff x="0" y="0"/>
          <a:chExt cx="0" cy="0"/>
        </a:xfrm>
      </p:grpSpPr>
      <p:sp>
        <p:nvSpPr>
          <p:cNvPr name="AutoShape 2" id="2"/>
          <p:cNvSpPr/>
          <p:nvPr/>
        </p:nvSpPr>
        <p:spPr>
          <a:xfrm>
            <a:off x="1565436" y="9239250"/>
            <a:ext cx="20019890" cy="0"/>
          </a:xfrm>
          <a:prstGeom prst="line">
            <a:avLst/>
          </a:prstGeom>
          <a:ln cap="flat" w="38100">
            <a:solidFill>
              <a:srgbClr val="000000"/>
            </a:solidFill>
            <a:prstDash val="solid"/>
            <a:headEnd type="diamond" len="lg" w="lg"/>
            <a:tailEnd type="none" len="sm" w="sm"/>
          </a:ln>
        </p:spPr>
      </p:sp>
      <p:sp>
        <p:nvSpPr>
          <p:cNvPr name="AutoShape 3" id="3"/>
          <p:cNvSpPr/>
          <p:nvPr/>
        </p:nvSpPr>
        <p:spPr>
          <a:xfrm flipV="true">
            <a:off x="624662" y="-18432980"/>
            <a:ext cx="0" cy="20019890"/>
          </a:xfrm>
          <a:prstGeom prst="line">
            <a:avLst/>
          </a:prstGeom>
          <a:ln cap="flat" w="38100">
            <a:solidFill>
              <a:srgbClr val="000000"/>
            </a:solidFill>
            <a:prstDash val="solid"/>
            <a:headEnd type="diamond" len="lg" w="lg"/>
            <a:tailEnd type="none" len="sm" w="sm"/>
          </a:ln>
        </p:spPr>
      </p:sp>
      <p:grpSp>
        <p:nvGrpSpPr>
          <p:cNvPr name="Group 4" id="4"/>
          <p:cNvGrpSpPr/>
          <p:nvPr/>
        </p:nvGrpSpPr>
        <p:grpSpPr>
          <a:xfrm rot="0">
            <a:off x="16915866" y="-251526"/>
            <a:ext cx="1764194" cy="4014219"/>
            <a:chOff x="0" y="0"/>
            <a:chExt cx="812800" cy="1849432"/>
          </a:xfrm>
        </p:grpSpPr>
        <p:sp>
          <p:nvSpPr>
            <p:cNvPr name="Freeform 5" id="5"/>
            <p:cNvSpPr/>
            <p:nvPr/>
          </p:nvSpPr>
          <p:spPr>
            <a:xfrm flipH="false" flipV="false" rot="0">
              <a:off x="0" y="0"/>
              <a:ext cx="812800" cy="1849432"/>
            </a:xfrm>
            <a:custGeom>
              <a:avLst/>
              <a:gdLst/>
              <a:ahLst/>
              <a:cxnLst/>
              <a:rect r="r" b="b" t="t" l="l"/>
              <a:pathLst>
                <a:path h="1849432" w="812800">
                  <a:moveTo>
                    <a:pt x="0" y="0"/>
                  </a:moveTo>
                  <a:lnTo>
                    <a:pt x="812800" y="0"/>
                  </a:lnTo>
                  <a:lnTo>
                    <a:pt x="812800" y="1849432"/>
                  </a:lnTo>
                  <a:lnTo>
                    <a:pt x="0" y="1849432"/>
                  </a:lnTo>
                  <a:close/>
                </a:path>
              </a:pathLst>
            </a:custGeom>
            <a:solidFill>
              <a:srgbClr val="5284FF"/>
            </a:solidFill>
          </p:spPr>
        </p:sp>
        <p:sp>
          <p:nvSpPr>
            <p:cNvPr name="TextBox 6" id="6"/>
            <p:cNvSpPr txBox="true"/>
            <p:nvPr/>
          </p:nvSpPr>
          <p:spPr>
            <a:xfrm>
              <a:off x="0" y="-38100"/>
              <a:ext cx="812800" cy="1887532"/>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6915866" y="-1975557"/>
            <a:ext cx="1764194" cy="3883035"/>
            <a:chOff x="0" y="0"/>
            <a:chExt cx="812800" cy="1788993"/>
          </a:xfrm>
        </p:grpSpPr>
        <p:sp>
          <p:nvSpPr>
            <p:cNvPr name="Freeform 8" id="8"/>
            <p:cNvSpPr/>
            <p:nvPr/>
          </p:nvSpPr>
          <p:spPr>
            <a:xfrm flipH="false" flipV="false" rot="0">
              <a:off x="0" y="0"/>
              <a:ext cx="812800" cy="1788993"/>
            </a:xfrm>
            <a:custGeom>
              <a:avLst/>
              <a:gdLst/>
              <a:ahLst/>
              <a:cxnLst/>
              <a:rect r="r" b="b" t="t" l="l"/>
              <a:pathLst>
                <a:path h="1788993" w="812800">
                  <a:moveTo>
                    <a:pt x="0" y="0"/>
                  </a:moveTo>
                  <a:lnTo>
                    <a:pt x="812800" y="0"/>
                  </a:lnTo>
                  <a:lnTo>
                    <a:pt x="812800" y="1788993"/>
                  </a:lnTo>
                  <a:lnTo>
                    <a:pt x="0" y="1788993"/>
                  </a:lnTo>
                  <a:close/>
                </a:path>
              </a:pathLst>
            </a:custGeom>
            <a:solidFill>
              <a:srgbClr val="FFFFFF"/>
            </a:solidFill>
          </p:spPr>
        </p:sp>
        <p:sp>
          <p:nvSpPr>
            <p:cNvPr name="TextBox 9" id="9"/>
            <p:cNvSpPr txBox="true"/>
            <p:nvPr/>
          </p:nvSpPr>
          <p:spPr>
            <a:xfrm>
              <a:off x="0" y="-38100"/>
              <a:ext cx="812800" cy="1827093"/>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611427" y="-251526"/>
            <a:ext cx="1764194" cy="4014219"/>
            <a:chOff x="0" y="0"/>
            <a:chExt cx="812800" cy="1849432"/>
          </a:xfrm>
        </p:grpSpPr>
        <p:sp>
          <p:nvSpPr>
            <p:cNvPr name="Freeform 11" id="11"/>
            <p:cNvSpPr/>
            <p:nvPr/>
          </p:nvSpPr>
          <p:spPr>
            <a:xfrm flipH="false" flipV="false" rot="0">
              <a:off x="0" y="0"/>
              <a:ext cx="812800" cy="1849432"/>
            </a:xfrm>
            <a:custGeom>
              <a:avLst/>
              <a:gdLst/>
              <a:ahLst/>
              <a:cxnLst/>
              <a:rect r="r" b="b" t="t" l="l"/>
              <a:pathLst>
                <a:path h="1849432" w="812800">
                  <a:moveTo>
                    <a:pt x="0" y="0"/>
                  </a:moveTo>
                  <a:lnTo>
                    <a:pt x="812800" y="0"/>
                  </a:lnTo>
                  <a:lnTo>
                    <a:pt x="812800" y="1849432"/>
                  </a:lnTo>
                  <a:lnTo>
                    <a:pt x="0" y="1849432"/>
                  </a:lnTo>
                  <a:close/>
                </a:path>
              </a:pathLst>
            </a:custGeom>
            <a:solidFill>
              <a:srgbClr val="9FCDFF"/>
            </a:solidFill>
          </p:spPr>
        </p:sp>
        <p:sp>
          <p:nvSpPr>
            <p:cNvPr name="TextBox 12" id="12"/>
            <p:cNvSpPr txBox="true"/>
            <p:nvPr/>
          </p:nvSpPr>
          <p:spPr>
            <a:xfrm>
              <a:off x="0" y="-38100"/>
              <a:ext cx="812800" cy="188753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7611427" y="-1975557"/>
            <a:ext cx="1764194" cy="3883035"/>
            <a:chOff x="0" y="0"/>
            <a:chExt cx="812800" cy="1788993"/>
          </a:xfrm>
        </p:grpSpPr>
        <p:sp>
          <p:nvSpPr>
            <p:cNvPr name="Freeform 14" id="14"/>
            <p:cNvSpPr/>
            <p:nvPr/>
          </p:nvSpPr>
          <p:spPr>
            <a:xfrm flipH="false" flipV="false" rot="0">
              <a:off x="0" y="0"/>
              <a:ext cx="812800" cy="1788993"/>
            </a:xfrm>
            <a:custGeom>
              <a:avLst/>
              <a:gdLst/>
              <a:ahLst/>
              <a:cxnLst/>
              <a:rect r="r" b="b" t="t" l="l"/>
              <a:pathLst>
                <a:path h="1788993" w="812800">
                  <a:moveTo>
                    <a:pt x="0" y="0"/>
                  </a:moveTo>
                  <a:lnTo>
                    <a:pt x="812800" y="0"/>
                  </a:lnTo>
                  <a:lnTo>
                    <a:pt x="812800" y="1788993"/>
                  </a:lnTo>
                  <a:lnTo>
                    <a:pt x="0" y="1788993"/>
                  </a:lnTo>
                  <a:close/>
                </a:path>
              </a:pathLst>
            </a:custGeom>
            <a:solidFill>
              <a:srgbClr val="000000"/>
            </a:solidFill>
          </p:spPr>
        </p:sp>
        <p:sp>
          <p:nvSpPr>
            <p:cNvPr name="TextBox 15" id="15"/>
            <p:cNvSpPr txBox="true"/>
            <p:nvPr/>
          </p:nvSpPr>
          <p:spPr>
            <a:xfrm>
              <a:off x="0" y="-38100"/>
              <a:ext cx="812800" cy="1827093"/>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5762328" y="7120255"/>
            <a:ext cx="1849099" cy="2627919"/>
          </a:xfrm>
          <a:custGeom>
            <a:avLst/>
            <a:gdLst/>
            <a:ahLst/>
            <a:cxnLst/>
            <a:rect r="r" b="b" t="t" l="l"/>
            <a:pathLst>
              <a:path h="2627919" w="1849099">
                <a:moveTo>
                  <a:pt x="0" y="0"/>
                </a:moveTo>
                <a:lnTo>
                  <a:pt x="1849099" y="0"/>
                </a:lnTo>
                <a:lnTo>
                  <a:pt x="1849099" y="2627919"/>
                </a:lnTo>
                <a:lnTo>
                  <a:pt x="0" y="2627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1565436" y="850989"/>
            <a:ext cx="12762654" cy="1447238"/>
          </a:xfrm>
          <a:prstGeom prst="rect">
            <a:avLst/>
          </a:prstGeom>
        </p:spPr>
        <p:txBody>
          <a:bodyPr anchor="t" rtlCol="false" tIns="0" lIns="0" bIns="0" rIns="0">
            <a:spAutoFit/>
          </a:bodyPr>
          <a:lstStyle/>
          <a:p>
            <a:pPr algn="l">
              <a:lnSpc>
                <a:spcPts val="8083"/>
              </a:lnSpc>
            </a:pPr>
            <a:r>
              <a:rPr lang="en-US" sz="8003" b="true">
                <a:solidFill>
                  <a:srgbClr val="000000"/>
                </a:solidFill>
                <a:latin typeface="Karnchang SemiCondensed Bold"/>
                <a:ea typeface="Karnchang SemiCondensed Bold"/>
                <a:cs typeface="Karnchang SemiCondensed Bold"/>
                <a:sym typeface="Karnchang SemiCondensed Bold"/>
              </a:rPr>
              <a:t>Conclusion</a:t>
            </a:r>
          </a:p>
        </p:txBody>
      </p:sp>
      <p:sp>
        <p:nvSpPr>
          <p:cNvPr name="TextBox 18" id="18"/>
          <p:cNvSpPr txBox="true"/>
          <p:nvPr/>
        </p:nvSpPr>
        <p:spPr>
          <a:xfrm rot="0">
            <a:off x="1931196" y="2556730"/>
            <a:ext cx="13500690" cy="5482657"/>
          </a:xfrm>
          <a:prstGeom prst="rect">
            <a:avLst/>
          </a:prstGeom>
        </p:spPr>
        <p:txBody>
          <a:bodyPr anchor="t" rtlCol="false" tIns="0" lIns="0" bIns="0" rIns="0">
            <a:spAutoFit/>
          </a:bodyPr>
          <a:lstStyle/>
          <a:p>
            <a:pPr algn="just" marL="480602" indent="-240301" lvl="1">
              <a:lnSpc>
                <a:spcPts val="3116"/>
              </a:lnSpc>
              <a:buFont typeface="Arial"/>
              <a:buChar char="•"/>
            </a:pPr>
            <a:r>
              <a:rPr lang="en-US" sz="2226">
                <a:solidFill>
                  <a:srgbClr val="000000"/>
                </a:solidFill>
                <a:latin typeface="PT Sans"/>
                <a:ea typeface="PT Sans"/>
                <a:cs typeface="PT Sans"/>
                <a:sym typeface="PT Sans"/>
              </a:rPr>
              <a:t>Afte</a:t>
            </a:r>
            <a:r>
              <a:rPr lang="en-US" sz="2226">
                <a:solidFill>
                  <a:srgbClr val="000000"/>
                </a:solidFill>
                <a:latin typeface="PT Sans"/>
                <a:ea typeface="PT Sans"/>
                <a:cs typeface="PT Sans"/>
                <a:sym typeface="PT Sans"/>
              </a:rPr>
              <a:t>r analyzing the dataset, it was observed that several features contained missing (null) values that could potentially affect the accuracy and reliability of the model. To address this issue, appropriate imputation techniques were suggested based on the nature of each feature. </a:t>
            </a:r>
          </a:p>
          <a:p>
            <a:pPr algn="just">
              <a:lnSpc>
                <a:spcPts val="3116"/>
              </a:lnSpc>
            </a:pPr>
          </a:p>
          <a:p>
            <a:pPr algn="just" marL="480602" indent="-240301" lvl="1">
              <a:lnSpc>
                <a:spcPts val="3116"/>
              </a:lnSpc>
              <a:buFont typeface="Arial"/>
              <a:buChar char="•"/>
            </a:pPr>
            <a:r>
              <a:rPr lang="en-US" sz="2226">
                <a:solidFill>
                  <a:srgbClr val="000000"/>
                </a:solidFill>
                <a:latin typeface="PT Sans"/>
                <a:ea typeface="PT Sans"/>
                <a:cs typeface="PT Sans"/>
                <a:sym typeface="PT Sans"/>
              </a:rPr>
              <a:t>For checkbox-type survey features, missing values can be reasonably replaced with 0 (No), assuming non-selection indicates a negative response. For categorical variables, grouping or binning similar categories helps maintain data consistency while reducing sparsity. </a:t>
            </a:r>
          </a:p>
          <a:p>
            <a:pPr algn="just">
              <a:lnSpc>
                <a:spcPts val="3116"/>
              </a:lnSpc>
            </a:pPr>
          </a:p>
          <a:p>
            <a:pPr algn="just" marL="480602" indent="-240301" lvl="1">
              <a:lnSpc>
                <a:spcPts val="3116"/>
              </a:lnSpc>
              <a:buFont typeface="Arial"/>
              <a:buChar char="•"/>
            </a:pPr>
            <a:r>
              <a:rPr lang="en-US" sz="2226">
                <a:solidFill>
                  <a:srgbClr val="000000"/>
                </a:solidFill>
                <a:latin typeface="PT Sans"/>
                <a:ea typeface="PT Sans"/>
                <a:cs typeface="PT Sans"/>
                <a:sym typeface="PT Sans"/>
              </a:rPr>
              <a:t>For numerical features, more sophisticated imputation methods such as K-Nearest Neighbors (KNN) imputation, mean or median imputation, iterative imputation, or row dropping were proposed depending on the proportion of missing data and the importance of the feature. </a:t>
            </a:r>
          </a:p>
          <a:p>
            <a:pPr algn="just">
              <a:lnSpc>
                <a:spcPts val="3116"/>
              </a:lnSpc>
            </a:pPr>
          </a:p>
          <a:p>
            <a:pPr algn="just" marL="480602" indent="-240301" lvl="1">
              <a:lnSpc>
                <a:spcPts val="3116"/>
              </a:lnSpc>
              <a:buFont typeface="Arial"/>
              <a:buChar char="•"/>
            </a:pPr>
            <a:r>
              <a:rPr lang="en-US" sz="2226">
                <a:solidFill>
                  <a:srgbClr val="000000"/>
                </a:solidFill>
                <a:latin typeface="PT Sans"/>
                <a:ea typeface="PT Sans"/>
                <a:cs typeface="PT Sans"/>
                <a:sym typeface="PT Sans"/>
              </a:rPr>
              <a:t>These methods aim to minimize data loss, preserve distribution characteristics, and improve the overall quality and performance of subsequent analyses or predictive modeling.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565436" y="9239250"/>
            <a:ext cx="20019890" cy="0"/>
          </a:xfrm>
          <a:prstGeom prst="line">
            <a:avLst/>
          </a:prstGeom>
          <a:ln cap="flat" w="38100">
            <a:solidFill>
              <a:srgbClr val="000000"/>
            </a:solidFill>
            <a:prstDash val="solid"/>
            <a:headEnd type="diamond" len="lg" w="lg"/>
            <a:tailEnd type="none" len="sm" w="sm"/>
          </a:ln>
        </p:spPr>
      </p:sp>
      <p:sp>
        <p:nvSpPr>
          <p:cNvPr name="AutoShape 3" id="3"/>
          <p:cNvSpPr/>
          <p:nvPr/>
        </p:nvSpPr>
        <p:spPr>
          <a:xfrm flipV="true">
            <a:off x="624662" y="-18432980"/>
            <a:ext cx="0" cy="20019890"/>
          </a:xfrm>
          <a:prstGeom prst="line">
            <a:avLst/>
          </a:prstGeom>
          <a:ln cap="flat" w="38100">
            <a:solidFill>
              <a:srgbClr val="000000"/>
            </a:solidFill>
            <a:prstDash val="solid"/>
            <a:headEnd type="diamond" len="lg" w="lg"/>
            <a:tailEnd type="none" len="sm" w="sm"/>
          </a:ln>
        </p:spPr>
      </p:sp>
      <p:grpSp>
        <p:nvGrpSpPr>
          <p:cNvPr name="Group 4" id="4"/>
          <p:cNvGrpSpPr/>
          <p:nvPr/>
        </p:nvGrpSpPr>
        <p:grpSpPr>
          <a:xfrm rot="0">
            <a:off x="16042557" y="-380448"/>
            <a:ext cx="3086100" cy="7022063"/>
            <a:chOff x="0" y="0"/>
            <a:chExt cx="812800" cy="1849432"/>
          </a:xfrm>
        </p:grpSpPr>
        <p:sp>
          <p:nvSpPr>
            <p:cNvPr name="Freeform 5" id="5"/>
            <p:cNvSpPr/>
            <p:nvPr/>
          </p:nvSpPr>
          <p:spPr>
            <a:xfrm flipH="false" flipV="false" rot="0">
              <a:off x="0" y="0"/>
              <a:ext cx="812800" cy="1849432"/>
            </a:xfrm>
            <a:custGeom>
              <a:avLst/>
              <a:gdLst/>
              <a:ahLst/>
              <a:cxnLst/>
              <a:rect r="r" b="b" t="t" l="l"/>
              <a:pathLst>
                <a:path h="1849432" w="812800">
                  <a:moveTo>
                    <a:pt x="0" y="0"/>
                  </a:moveTo>
                  <a:lnTo>
                    <a:pt x="812800" y="0"/>
                  </a:lnTo>
                  <a:lnTo>
                    <a:pt x="812800" y="1849432"/>
                  </a:lnTo>
                  <a:lnTo>
                    <a:pt x="0" y="1849432"/>
                  </a:lnTo>
                  <a:close/>
                </a:path>
              </a:pathLst>
            </a:custGeom>
            <a:solidFill>
              <a:srgbClr val="5284FF"/>
            </a:solidFill>
          </p:spPr>
        </p:sp>
        <p:sp>
          <p:nvSpPr>
            <p:cNvPr name="TextBox 6" id="6"/>
            <p:cNvSpPr txBox="true"/>
            <p:nvPr/>
          </p:nvSpPr>
          <p:spPr>
            <a:xfrm>
              <a:off x="0" y="-38100"/>
              <a:ext cx="812800" cy="1887532"/>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6042557" y="-3396291"/>
            <a:ext cx="3086100" cy="6792583"/>
            <a:chOff x="0" y="0"/>
            <a:chExt cx="812800" cy="1788993"/>
          </a:xfrm>
        </p:grpSpPr>
        <p:sp>
          <p:nvSpPr>
            <p:cNvPr name="Freeform 8" id="8"/>
            <p:cNvSpPr/>
            <p:nvPr/>
          </p:nvSpPr>
          <p:spPr>
            <a:xfrm flipH="false" flipV="false" rot="0">
              <a:off x="0" y="0"/>
              <a:ext cx="812800" cy="1788993"/>
            </a:xfrm>
            <a:custGeom>
              <a:avLst/>
              <a:gdLst/>
              <a:ahLst/>
              <a:cxnLst/>
              <a:rect r="r" b="b" t="t" l="l"/>
              <a:pathLst>
                <a:path h="1788993" w="812800">
                  <a:moveTo>
                    <a:pt x="0" y="0"/>
                  </a:moveTo>
                  <a:lnTo>
                    <a:pt x="812800" y="0"/>
                  </a:lnTo>
                  <a:lnTo>
                    <a:pt x="812800" y="1788993"/>
                  </a:lnTo>
                  <a:lnTo>
                    <a:pt x="0" y="1788993"/>
                  </a:lnTo>
                  <a:close/>
                </a:path>
              </a:pathLst>
            </a:custGeom>
            <a:solidFill>
              <a:srgbClr val="F0F7FE"/>
            </a:solidFill>
          </p:spPr>
        </p:sp>
        <p:sp>
          <p:nvSpPr>
            <p:cNvPr name="TextBox 9" id="9"/>
            <p:cNvSpPr txBox="true"/>
            <p:nvPr/>
          </p:nvSpPr>
          <p:spPr>
            <a:xfrm>
              <a:off x="0" y="-38100"/>
              <a:ext cx="812800" cy="1827093"/>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380448"/>
            <a:ext cx="3086100" cy="7022063"/>
            <a:chOff x="0" y="0"/>
            <a:chExt cx="812800" cy="1849432"/>
          </a:xfrm>
        </p:grpSpPr>
        <p:sp>
          <p:nvSpPr>
            <p:cNvPr name="Freeform 11" id="11"/>
            <p:cNvSpPr/>
            <p:nvPr/>
          </p:nvSpPr>
          <p:spPr>
            <a:xfrm flipH="false" flipV="false" rot="0">
              <a:off x="0" y="0"/>
              <a:ext cx="812800" cy="1849432"/>
            </a:xfrm>
            <a:custGeom>
              <a:avLst/>
              <a:gdLst/>
              <a:ahLst/>
              <a:cxnLst/>
              <a:rect r="r" b="b" t="t" l="l"/>
              <a:pathLst>
                <a:path h="1849432" w="812800">
                  <a:moveTo>
                    <a:pt x="0" y="0"/>
                  </a:moveTo>
                  <a:lnTo>
                    <a:pt x="812800" y="0"/>
                  </a:lnTo>
                  <a:lnTo>
                    <a:pt x="812800" y="1849432"/>
                  </a:lnTo>
                  <a:lnTo>
                    <a:pt x="0" y="1849432"/>
                  </a:lnTo>
                  <a:close/>
                </a:path>
              </a:pathLst>
            </a:custGeom>
            <a:solidFill>
              <a:srgbClr val="9FCDFF"/>
            </a:solidFill>
          </p:spPr>
        </p:sp>
        <p:sp>
          <p:nvSpPr>
            <p:cNvPr name="TextBox 12" id="12"/>
            <p:cNvSpPr txBox="true"/>
            <p:nvPr/>
          </p:nvSpPr>
          <p:spPr>
            <a:xfrm>
              <a:off x="0" y="-38100"/>
              <a:ext cx="812800" cy="188753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7259300" y="-3396291"/>
            <a:ext cx="3086100" cy="6792583"/>
            <a:chOff x="0" y="0"/>
            <a:chExt cx="812800" cy="1788993"/>
          </a:xfrm>
        </p:grpSpPr>
        <p:sp>
          <p:nvSpPr>
            <p:cNvPr name="Freeform 14" id="14"/>
            <p:cNvSpPr/>
            <p:nvPr/>
          </p:nvSpPr>
          <p:spPr>
            <a:xfrm flipH="false" flipV="false" rot="0">
              <a:off x="0" y="0"/>
              <a:ext cx="812800" cy="1788993"/>
            </a:xfrm>
            <a:custGeom>
              <a:avLst/>
              <a:gdLst/>
              <a:ahLst/>
              <a:cxnLst/>
              <a:rect r="r" b="b" t="t" l="l"/>
              <a:pathLst>
                <a:path h="1788993" w="812800">
                  <a:moveTo>
                    <a:pt x="0" y="0"/>
                  </a:moveTo>
                  <a:lnTo>
                    <a:pt x="812800" y="0"/>
                  </a:lnTo>
                  <a:lnTo>
                    <a:pt x="812800" y="1788993"/>
                  </a:lnTo>
                  <a:lnTo>
                    <a:pt x="0" y="1788993"/>
                  </a:lnTo>
                  <a:close/>
                </a:path>
              </a:pathLst>
            </a:custGeom>
            <a:solidFill>
              <a:srgbClr val="000000"/>
            </a:solidFill>
          </p:spPr>
        </p:sp>
        <p:sp>
          <p:nvSpPr>
            <p:cNvPr name="TextBox 15" id="15"/>
            <p:cNvSpPr txBox="true"/>
            <p:nvPr/>
          </p:nvSpPr>
          <p:spPr>
            <a:xfrm>
              <a:off x="0" y="-38100"/>
              <a:ext cx="812800" cy="1827093"/>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true" flipV="false" rot="0">
            <a:off x="3064867" y="6405372"/>
            <a:ext cx="3771794" cy="4199366"/>
          </a:xfrm>
          <a:custGeom>
            <a:avLst/>
            <a:gdLst/>
            <a:ahLst/>
            <a:cxnLst/>
            <a:rect r="r" b="b" t="t" l="l"/>
            <a:pathLst>
              <a:path h="4199366" w="3771794">
                <a:moveTo>
                  <a:pt x="3771794" y="0"/>
                </a:moveTo>
                <a:lnTo>
                  <a:pt x="0" y="0"/>
                </a:lnTo>
                <a:lnTo>
                  <a:pt x="0" y="4199365"/>
                </a:lnTo>
                <a:lnTo>
                  <a:pt x="3771794" y="4199365"/>
                </a:lnTo>
                <a:lnTo>
                  <a:pt x="37717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1565436" y="1325159"/>
            <a:ext cx="10390539" cy="2218214"/>
          </a:xfrm>
          <a:prstGeom prst="rect">
            <a:avLst/>
          </a:prstGeom>
        </p:spPr>
        <p:txBody>
          <a:bodyPr anchor="t" rtlCol="false" tIns="0" lIns="0" bIns="0" rIns="0">
            <a:spAutoFit/>
          </a:bodyPr>
          <a:lstStyle/>
          <a:p>
            <a:pPr algn="l">
              <a:lnSpc>
                <a:spcPts val="12312"/>
              </a:lnSpc>
            </a:pPr>
            <a:r>
              <a:rPr lang="en-US" sz="12190" b="true">
                <a:solidFill>
                  <a:srgbClr val="000000"/>
                </a:solidFill>
                <a:latin typeface="Karnchang SemiCondensed Bold"/>
                <a:ea typeface="Karnchang SemiCondensed Bold"/>
                <a:cs typeface="Karnchang SemiCondensed Bold"/>
                <a:sym typeface="Karnchang SemiCondensed Bold"/>
              </a:rPr>
              <a:t>Thank You</a:t>
            </a:r>
          </a:p>
        </p:txBody>
      </p:sp>
      <p:sp>
        <p:nvSpPr>
          <p:cNvPr name="TextBox 18" id="18"/>
          <p:cNvSpPr txBox="true"/>
          <p:nvPr/>
        </p:nvSpPr>
        <p:spPr>
          <a:xfrm rot="0">
            <a:off x="14854471" y="9417083"/>
            <a:ext cx="3151539" cy="336550"/>
          </a:xfrm>
          <a:prstGeom prst="rect">
            <a:avLst/>
          </a:prstGeom>
        </p:spPr>
        <p:txBody>
          <a:bodyPr anchor="t" rtlCol="false" tIns="0" lIns="0" bIns="0" rIns="0">
            <a:spAutoFit/>
          </a:bodyPr>
          <a:lstStyle/>
          <a:p>
            <a:pPr algn="l">
              <a:lnSpc>
                <a:spcPts val="2524"/>
              </a:lnSpc>
            </a:pPr>
            <a:r>
              <a:rPr lang="en-US" sz="2499" b="true">
                <a:solidFill>
                  <a:srgbClr val="000000"/>
                </a:solidFill>
                <a:latin typeface="PT Sans Bold"/>
                <a:ea typeface="PT Sans Bold"/>
                <a:cs typeface="PT Sans Bold"/>
                <a:sym typeface="PT Sans Bold"/>
              </a:rPr>
              <a:t>Rudra Prasad Bhuyan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DAG373V7-g4</dc:identifier>
  <dcterms:modified xsi:type="dcterms:W3CDTF">2011-08-01T06:04:30Z</dcterms:modified>
  <cp:revision>1</cp:revision>
  <dc:title>NULL Value Matrix Report</dc:title>
</cp:coreProperties>
</file>